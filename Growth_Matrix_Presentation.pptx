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20"/>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20" Type="http://schemas.openxmlformats.org/officeDocument/2006/relationships/slide" Target="slides/slide14.xml"/>
  <Relationship Id="rId15" Type="http://schemas.openxmlformats.org/officeDocument/2006/relationships/notesMaster" Target="notesMasters/notesMaster1.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s>

</file>

<file path=ppt/charts/_rels/chart1.xml.rels><?xml version="1.0" encoding="utf-8"?>
<Relationships xmlns="http://schemas.openxmlformats.org/package/2006/relationships">
  <Relationship Id="rId1" Type="http://schemas.openxmlformats.org/officeDocument/2006/relationships/package" Target="../embeddings/Microsoft_Excel_Worksheet1.xlsx"/>
</Relationships>

</file>

<file path=ppt/charts/_rels/chart2.xml.rels><?xml version="1.0" encoding="utf-8"?>
<Relationships xmlns="http://schemas.openxmlformats.org/package/2006/relationships">
  <Relationship Id="rId1" Type="http://schemas.openxmlformats.org/officeDocument/2006/relationships/package" Target="../embeddings/Microsoft_Excel_Worksheet2.xlsx"/>
</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Categories</c:v>
                </c:pt>
              </c:strCache>
            </c:strRef>
          </c:tx>
          <c:spPr>
            <a:solidFill>
              <a:schemeClr val="accent1"/>
            </a:solidFill>
            <a:ln w="9525" cap="flat">
              <a:solidFill>
                <a:srgbClr val="F9F9F9"/>
              </a:solidFill>
              <a:prstDash val="solid"/>
              <a:round/>
            </a:ln>
            <a:effectLst/>
          </c:spPr>
          <c:dPt>
            <c:idx val="0"/>
            <c:bubble3D val="0"/>
            <c:spPr>
              <a:solidFill>
                <a:srgbClr val="1B4F8A"/>
              </a:solidFill>
              <a:effectLst/>
            </c:spPr>
          </c:dPt>
          <c:dPt>
            <c:idx val="1"/>
            <c:bubble3D val="0"/>
            <c:spPr>
              <a:solidFill>
                <a:srgbClr val="1A8C5C"/>
              </a:solidFill>
              <a:effectLst/>
            </c:spPr>
          </c:dPt>
          <c:dPt>
            <c:idx val="2"/>
            <c:bubble3D val="0"/>
            <c:spPr>
              <a:solidFill>
                <a:srgbClr val="0E9AD1"/>
              </a:solidFill>
              <a:effectLst/>
            </c:spPr>
          </c:dPt>
          <c:dPt>
            <c:idx val="3"/>
            <c:bubble3D val="0"/>
            <c:spPr>
              <a:solidFill>
                <a:srgbClr val="0D7A6B"/>
              </a:solidFill>
              <a:effectLst/>
            </c:spPr>
          </c:dPt>
          <c:dPt>
            <c:idx val="4"/>
            <c:bubble3D val="0"/>
            <c:spPr>
              <a:solidFill>
                <a:srgbClr val="E8680C"/>
              </a:solidFill>
              <a:effectLst/>
            </c:spPr>
          </c:dPt>
          <c:dPt>
            <c:idx val="5"/>
            <c:bubble3D val="0"/>
            <c:spPr>
              <a:solidFill>
                <a:srgbClr val="C0392B"/>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Politics</c:v>
                </c:pt>
                <c:pt idx="1">
                  <c:v>Sports</c:v>
                </c:pt>
                <c:pt idx="2">
                  <c:v>Tech</c:v>
                </c:pt>
                <c:pt idx="3">
                  <c:v>Health</c:v>
                </c:pt>
                <c:pt idx="4">
                  <c:v>Business</c:v>
                </c:pt>
                <c:pt idx="5">
                  <c:v>Entertainment</c:v>
                </c:pt>
              </c:strCache>
            </c:strRef>
          </c:cat>
          <c:val>
            <c:numRef>
              <c:f>Sheet1!$B$2:$B$7</c:f>
              <c:numCache>
                <c:ptCount val="6"/>
                <c:pt idx="0">
                  <c:v>20</c:v>
                </c:pt>
                <c:pt idx="1">
                  <c:v>25</c:v>
                </c:pt>
                <c:pt idx="2">
                  <c:v>18</c:v>
                </c:pt>
                <c:pt idx="3">
                  <c:v>14</c:v>
                </c:pt>
                <c:pt idx="4">
                  <c:v>13</c:v>
                </c:pt>
                <c:pt idx="5">
                  <c:v>10</c:v>
                </c:pt>
              </c:numCache>
            </c:numRef>
          </c:val>
        </c:ser>
        <c:firstSliceAng val="0"/>
      </c:pieChart>
      <c:spPr>
        <a:noFill/>
        <a:ln>
          <a:noFill/>
        </a:ln>
        <a:effectLst/>
      </c:spPr>
    </c:plotArea>
    <c:legend>
      <c:legendPos val="b"/>
      <c:overlay val="0"/>
    </c:legend>
    <c:plotVisOnly val="1"/>
    <c:dispBlanksAs val="span"/>
  </c:chart>
  <c:spPr>
    <a:solidFill>
      <a:srgbClr val="1323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C0392B"/>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0E9AD1"/>
              </a:solidFill>
              <a:effectLst/>
            </c:spPr>
          </c:dPt>
          <c:dPt>
            <c:idx val="2"/>
            <c:invertIfNegative val="0"/>
            <c:bubble3D val="0"/>
            <c:spPr>
              <a:solidFill>
                <a:srgbClr val="0D7A6B"/>
              </a:solidFill>
              <a:effectLst/>
            </c:spPr>
          </c:dPt>
          <c:dPt>
            <c:idx val="3"/>
            <c:invertIfNegative val="0"/>
            <c:bubble3D val="0"/>
            <c:spPr>
              <a:solidFill>
                <a:srgbClr val="E8680C"/>
              </a:solidFill>
              <a:effectLst/>
            </c:spPr>
          </c:dPt>
          <c:cat>
            <c:multiLvlStrRef>
              <c:f>Sheet1!$A$2:$A$5</c:f>
              <c:multiLvlStrCache>
                <c:ptCount val="4"/>
                <c:lvl>
                  <c:pt idx="0">
                    <c:v>Spam Classifier</c:v>
                  </c:pt>
                  <c:pt idx="1">
                    <c:v>Language Detection</c:v>
                  </c:pt>
                  <c:pt idx="2">
                    <c:v>Food Sentiment</c:v>
                  </c:pt>
                  <c:pt idx="3">
                    <c:v>News Classification</c:v>
                  </c:pt>
                </c:lvl>
              </c:multiLvlStrCache>
            </c:multiLvlStrRef>
          </c:cat>
          <c:val>
            <c:numRef>
              <c:f>Sheet1!$B$2:$B$5</c:f>
              <c:numCache>
                <c:formatCode>General</c:formatCode>
                <c:ptCount val="4"/>
                <c:pt idx="0">
                  <c:v>97</c:v>
                </c:pt>
                <c:pt idx="1">
                  <c:v>95</c:v>
                </c:pt>
                <c:pt idx="2">
                  <c:v>93</c:v>
                </c:pt>
                <c:pt idx="3">
                  <c:v>91</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4F8A"/>
                </a:solidFill>
                <a:latin typeface="Arial"/>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image" Target="../media/image-1-1.png"/>
  <Relationship Id="rId2" Type="http://schemas.openxmlformats.org/officeDocument/2006/relationships/image" Target="../media/image-1-2.png"/>
  <Relationship Id="rId3" Type="http://schemas.openxmlformats.org/officeDocument/2006/relationships/image" Target="../media/image-1-3.png"/>
  <Relationship Id="rId4" Type="http://schemas.openxmlformats.org/officeDocument/2006/relationships/image" Target="../media/image-1-4.png"/>
  <Relationship Id="rId5" Type="http://schemas.openxmlformats.org/officeDocument/2006/relationships/slideLayout" Target="../slideLayouts/slideLayout1.xml"/>
  <Relationship Id="rId6"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3-3.png"/>
  <Relationship Id="rId4" Type="http://schemas.openxmlformats.org/officeDocument/2006/relationships/image" Target="../media/image-3-4.png"/>
  <Relationship Id="rId5" Type="http://schemas.openxmlformats.org/officeDocument/2006/relationships/slideLayout" Target="../slideLayouts/slideLayout1.xml"/>
  <Relationship Id="rId6"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image" Target="../media/image-6-1.png"/>
  <Relationship Id="rId2" Type="http://schemas.openxmlformats.org/officeDocument/2006/relationships/slideLayout" Target="../slideLayouts/slideLayout1.xml"/>
  <Relationship Id="rId3"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image" Target="../media/image-7-1.png"/>
  <Relationship Id="rId2" Type="http://schemas.openxmlformats.org/officeDocument/2006/relationships/slideLayout" Target="../slideLayouts/slideLayout1.xml"/>
  <Relationship Id="rId3"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image" Target="../media/image-8-1.png"/>
  <Relationship Id="rId2" Type="http://schemas.openxmlformats.org/officeDocument/2006/relationships/slideLayout" Target="../slideLayouts/slideLayout1.xml"/>
  <Relationship Id="rId3" Type="http://schemas.openxmlformats.org/officeDocument/2006/relationships/notesSlide" Target="../notesSlides/notesSlide8.xml"/>
</Relationships>

</file>

<file path=ppt/slides/_rels/slide9.xml.rels><?xml version="1.0" encoding="utf-8"?>
<Relationships xmlns="http://schemas.openxmlformats.org/package/2006/relationships">
  <Relationship Id="rId2" Type="http://schemas.openxmlformats.org/officeDocument/2006/relationships/chart" Target="/ppt/charts/chart1.xml"/>
  <Relationship Id="rId1" Type="http://schemas.openxmlformats.org/officeDocument/2006/relationships/image" Target="../media/image-9-1.png"/>
  <Relationship Id="rId3" Type="http://schemas.openxmlformats.org/officeDocument/2006/relationships/slideLayout" Target="../slideLayouts/slideLayout1.xml"/>
  <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chart" Target="/ppt/charts/chart2.xml"/>
  <Relationship Id="rId2" Type="http://schemas.openxmlformats.org/officeDocument/2006/relationships/slideLayout" Target="../slideLayouts/slideLayout1.xml"/>
  <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image" Target="../media/image-11-1.png"/>
  <Relationship Id="rId2" Type="http://schemas.openxmlformats.org/officeDocument/2006/relationships/image" Target="../media/image-11-2.png"/>
  <Relationship Id="rId3" Type="http://schemas.openxmlformats.org/officeDocument/2006/relationships/image" Target="../media/image-11-3.png"/>
  <Relationship Id="rId4" Type="http://schemas.openxmlformats.org/officeDocument/2006/relationships/image" Target="../media/image-11-4.png"/>
  <Relationship Id="rId5" Type="http://schemas.openxmlformats.org/officeDocument/2006/relationships/image" Target="../media/image-11-5.png"/>
  <Relationship Id="rId6" Type="http://schemas.openxmlformats.org/officeDocument/2006/relationships/image" Target="../media/image-11-6.png"/>
  <Relationship Id="rId7" Type="http://schemas.openxmlformats.org/officeDocument/2006/relationships/image" Target="../media/image-11-7.png"/>
  <Relationship Id="rId8" Type="http://schemas.openxmlformats.org/officeDocument/2006/relationships/image" Target="../media/image-11-8.png"/>
  <Relationship Id="rId9" Type="http://schemas.openxmlformats.org/officeDocument/2006/relationships/slideLayout" Target="../slideLayouts/slideLayout1.xml"/>
  <Relationship Id="rId10"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image" Target="../media/image-12-1.png"/>
  <Relationship Id="rId2" Type="http://schemas.openxmlformats.org/officeDocument/2006/relationships/image" Target="../media/image-12-2.png"/>
  <Relationship Id="rId3" Type="http://schemas.openxmlformats.org/officeDocument/2006/relationships/image" Target="../media/image-12-3.png"/>
  <Relationship Id="rId4" Type="http://schemas.openxmlformats.org/officeDocument/2006/relationships/image" Target="../media/image-12-4.png"/>
  <Relationship Id="rId5" Type="http://schemas.openxmlformats.org/officeDocument/2006/relationships/image" Target="../media/image-12-5.png"/>
  <Relationship Id="rId6" Type="http://schemas.openxmlformats.org/officeDocument/2006/relationships/image" Target="../media/image-12-6.png"/>
  <Relationship Id="rId7" Type="http://schemas.openxmlformats.org/officeDocument/2006/relationships/slideLayout" Target="../slideLayouts/slideLayout1.xml"/>
  <Relationship Id="rId8" Type="http://schemas.openxmlformats.org/officeDocument/2006/relationships/notesSlide" Target="../notesSlides/notesSlide1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xml"/>
  <Relationship Id="rId3" Type="http://schemas.openxmlformats.org/officeDocument/2006/relationships/image" Target="../media/team_yaman.jpg"/>
  <Relationship Id="rId4" Type="http://schemas.openxmlformats.org/officeDocument/2006/relationships/image" Target="../media/team_ritu.jpg"/>
  <Relationship Id="rId5" Type="http://schemas.openxmlformats.org/officeDocument/2006/relationships/image" Target="../media/team_sunny.jpg"/>
  <Relationship Id="rId6" Type="http://schemas.openxmlformats.org/officeDocument/2006/relationships/image" Target="../media/team_varun.jp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0D1F36"/>
          </a:solidFill>
          <a:ln w="12700">
            <a:solidFill>
              <a:srgbClr val="0D1F36"/>
            </a:solidFill>
            <a:prstDash val="solid"/>
          </a:ln>
        </p:spPr>
      </p:sp>
      <p:sp>
        <p:nvSpPr>
          <p:cNvPr id="3" name="Shape 1"/>
          <p:cNvSpPr/>
          <p:nvPr/>
        </p:nvSpPr>
        <p:spPr>
          <a:xfrm>
            <a:off x="5669280" y="0"/>
            <a:ext cx="64008" cy="5143500"/>
          </a:xfrm>
          <a:prstGeom prst="rect">
            <a:avLst/>
          </a:prstGeom>
          <a:solidFill>
            <a:srgbClr val="0E9AD1"/>
          </a:solidFill>
          <a:ln w="12700">
            <a:solidFill>
              <a:srgbClr val="0E9AD1"/>
            </a:solidFill>
            <a:prstDash val="solid"/>
          </a:ln>
        </p:spPr>
      </p:sp>
      <p:sp>
        <p:nvSpPr>
          <p:cNvPr id="4" name="Shape 2"/>
          <p:cNvSpPr/>
          <p:nvPr/>
        </p:nvSpPr>
        <p:spPr>
          <a:xfrm>
            <a:off x="0" y="3520440"/>
            <a:ext cx="5669280" cy="54864"/>
          </a:xfrm>
          <a:prstGeom prst="rect">
            <a:avLst/>
          </a:prstGeom>
          <a:solidFill>
            <a:srgbClr val="E8680C"/>
          </a:solidFill>
          <a:ln w="12700">
            <a:solidFill>
              <a:srgbClr val="E8680C"/>
            </a:solidFill>
            <a:prstDash val="solid"/>
          </a:ln>
        </p:spPr>
      </p:sp>
      <p:sp>
        <p:nvSpPr>
          <p:cNvPr id="5" name="Text 3"/>
          <p:cNvSpPr/>
          <p:nvPr/>
        </p:nvSpPr>
        <p:spPr>
          <a:xfrm>
            <a:off x="457200" y="502920"/>
            <a:ext cx="5029200" cy="411480"/>
          </a:xfrm>
          <a:prstGeom prst="rect">
            <a:avLst/>
          </a:prstGeom>
          <a:noFill/>
          <a:ln/>
        </p:spPr>
        <p:txBody>
          <a:bodyPr wrap="square" lIns="0" tIns="0" rIns="0" bIns="0" rtlCol="0" anchor="ctr"/>
          <a:lstStyle/>
          <a:p>
            <a:pPr indent="0" marL="0">
              <a:buNone/>
            </a:pPr>
            <a:r>
              <a:rPr lang="en-US" sz="1100" b="1" spc="600" kern="0" dirty="0">
                <a:solidFill>
                  <a:srgbClr val="0E9AD1"/>
                </a:solidFill>
                <a:latin typeface="Calibri" pitchFamily="34" charset="0"/>
                <a:ea typeface="Calibri" pitchFamily="34" charset="-122"/>
                <a:cs typeface="Calibri" pitchFamily="34" charset="-120"/>
              </a:rPr>
              <a:t>NLP SUITE</a:t>
            </a:r>
            <a:endParaRPr lang="en-US" sz="1100" dirty="0"/>
          </a:p>
        </p:txBody>
      </p:sp>
      <p:sp>
        <p:nvSpPr>
          <p:cNvPr id="6" name="Text 4"/>
          <p:cNvSpPr/>
          <p:nvPr/>
        </p:nvSpPr>
        <p:spPr>
          <a:xfrm>
            <a:off x="457200" y="914400"/>
            <a:ext cx="5029200" cy="1005840"/>
          </a:xfrm>
          <a:prstGeom prst="rect">
            <a:avLst/>
          </a:prstGeom>
          <a:noFill/>
          <a:ln/>
        </p:spPr>
        <p:txBody>
          <a:bodyPr wrap="square" lIns="0" tIns="0" rIns="0" bIns="0" rtlCol="0" anchor="ctr"/>
          <a:lstStyle/>
          <a:p>
            <a:pPr indent="0" marL="0">
              <a:buNone/>
            </a:pPr>
            <a:r>
              <a:rPr lang="en-US" sz="7800" b="1" dirty="0">
                <a:solidFill>
                  <a:srgbClr val="FFFFFF"/>
                </a:solidFill>
                <a:latin typeface="Calibri" pitchFamily="34" charset="0"/>
                <a:ea typeface="Calibri" pitchFamily="34" charset="-122"/>
                <a:cs typeface="Calibri" pitchFamily="34" charset="-120"/>
              </a:rPr>
              <a:t>Growth</a:t>
            </a:r>
            <a:endParaRPr lang="en-US" sz="7800" dirty="0"/>
          </a:p>
        </p:txBody>
      </p:sp>
      <p:sp>
        <p:nvSpPr>
          <p:cNvPr id="7" name="Text 5"/>
          <p:cNvSpPr/>
          <p:nvPr/>
        </p:nvSpPr>
        <p:spPr>
          <a:xfrm>
            <a:off x="457200" y="1874520"/>
            <a:ext cx="5029200" cy="777240"/>
          </a:xfrm>
          <a:prstGeom prst="rect">
            <a:avLst/>
          </a:prstGeom>
          <a:noFill/>
          <a:ln/>
        </p:spPr>
        <p:txBody>
          <a:bodyPr wrap="square" lIns="0" tIns="0" rIns="0" bIns="0" rtlCol="0" anchor="ctr"/>
          <a:lstStyle/>
          <a:p>
            <a:pPr indent="0" marL="0">
              <a:buNone/>
            </a:pPr>
            <a:r>
              <a:rPr lang="en-US" sz="5200" b="1" dirty="0">
                <a:solidFill>
                  <a:srgbClr val="0E9AD1"/>
                </a:solidFill>
                <a:latin typeface="Calibri" pitchFamily="34" charset="0"/>
                <a:ea typeface="Calibri" pitchFamily="34" charset="-122"/>
                <a:cs typeface="Calibri" pitchFamily="34" charset="-120"/>
              </a:rPr>
              <a:t>Matrix</a:t>
            </a:r>
            <a:endParaRPr lang="en-US" sz="5200" dirty="0"/>
          </a:p>
        </p:txBody>
      </p:sp>
      <p:sp>
        <p:nvSpPr>
          <p:cNvPr id="8" name="Text 6"/>
          <p:cNvSpPr/>
          <p:nvPr/>
        </p:nvSpPr>
        <p:spPr>
          <a:xfrm>
            <a:off x="457200" y="2834640"/>
            <a:ext cx="5029200" cy="502920"/>
          </a:xfrm>
          <a:prstGeom prst="rect">
            <a:avLst/>
          </a:prstGeom>
          <a:noFill/>
          <a:ln/>
        </p:spPr>
        <p:txBody>
          <a:bodyPr wrap="square" lIns="0" tIns="0" rIns="0" bIns="0" rtlCol="0" anchor="ctr"/>
          <a:lstStyle/>
          <a:p>
            <a:pPr indent="0" marL="0">
              <a:buNone/>
            </a:pPr>
            <a:r>
              <a:rPr lang="en-US" sz="1500" i="1" dirty="0">
                <a:solidFill>
                  <a:srgbClr val="8A9BB0"/>
                </a:solidFill>
                <a:latin typeface="Calibri" pitchFamily="34" charset="0"/>
                <a:ea typeface="Calibri" pitchFamily="34" charset="-122"/>
                <a:cs typeface="Calibri" pitchFamily="34" charset="-120"/>
              </a:rPr>
              <a:t>Intelligent Text Analysis for a Digital India</a:t>
            </a:r>
            <a:endParaRPr lang="en-US" sz="1500" dirty="0"/>
          </a:p>
        </p:txBody>
      </p:sp>
      <p:sp>
        <p:nvSpPr>
          <p:cNvPr id="9" name="Shape 7"/>
          <p:cNvSpPr/>
          <p:nvPr/>
        </p:nvSpPr>
        <p:spPr>
          <a:xfrm>
            <a:off x="457200" y="3703320"/>
            <a:ext cx="4937760" cy="1005840"/>
          </a:xfrm>
          <a:prstGeom prst="rect">
            <a:avLst/>
          </a:prstGeom>
          <a:solidFill>
            <a:srgbClr val="1B4F8A">
              <a:alpha val="45000"/>
            </a:srgbClr>
          </a:solidFill>
          <a:ln w="12700">
            <a:solidFill>
              <a:srgbClr val="1B4F8A">
                <a:alpha val="45000"/>
              </a:srgbClr>
            </a:solidFill>
            <a:prstDash val="solid"/>
          </a:ln>
        </p:spPr>
      </p:sp>
      <p:sp>
        <p:nvSpPr>
          <p:cNvPr id="10" name="Text 8"/>
          <p:cNvSpPr/>
          <p:nvPr/>
        </p:nvSpPr>
        <p:spPr>
          <a:xfrm>
            <a:off x="594360" y="3749040"/>
            <a:ext cx="4663440" cy="914400"/>
          </a:xfrm>
          <a:prstGeom prst="rect">
            <a:avLst/>
          </a:prstGeom>
          <a:noFill/>
          <a:ln/>
        </p:spPr>
        <p:txBody>
          <a:bodyPr wrap="square"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B.Tech CSE — Final Year Project</a:t>
            </a:r>
            <a:endParaRPr lang="en-US" sz="1200" dirty="0"/>
          </a:p>
          <a:p>
            <a:pPr indent="0" marL="0">
              <a:buNone/>
            </a:pPr>
            <a:r>
              <a:rPr lang="en-US" sz="1200" dirty="0">
                <a:solidFill>
                  <a:srgbClr val="F5F0E8"/>
                </a:solidFill>
                <a:latin typeface="Calibri" pitchFamily="34" charset="0"/>
                <a:ea typeface="Calibri" pitchFamily="34" charset="-122"/>
                <a:cs typeface="Calibri" pitchFamily="34" charset="-120"/>
              </a:rPr>
              <a:t>Department of Computer Science &amp; Engineering</a:t>
            </a:r>
            <a:endParaRPr lang="en-US" sz="1200" dirty="0"/>
          </a:p>
          <a:p>
            <a:pPr indent="0" marL="0">
              <a:buNone/>
            </a:pPr>
            <a:r>
              <a:rPr lang="en-US" sz="1200" dirty="0">
                <a:solidFill>
                  <a:srgbClr val="F5F0E8"/>
                </a:solidFill>
                <a:latin typeface="Calibri" pitchFamily="34" charset="0"/>
                <a:ea typeface="Calibri" pitchFamily="34" charset="-122"/>
                <a:cs typeface="Calibri" pitchFamily="34" charset="-120"/>
              </a:rPr>
              <a:t>Powered by: Python · Scikit-learn · Streamlit · NLP</a:t>
            </a:r>
            <a:endParaRPr lang="en-US" sz="1200" dirty="0"/>
          </a:p>
        </p:txBody>
      </p:sp>
      <p:sp>
        <p:nvSpPr>
          <p:cNvPr id="11" name="Shape 9"/>
          <p:cNvSpPr/>
          <p:nvPr/>
        </p:nvSpPr>
        <p:spPr>
          <a:xfrm>
            <a:off x="5989320" y="640080"/>
            <a:ext cx="2926080" cy="777240"/>
          </a:xfrm>
          <a:prstGeom prst="rect">
            <a:avLst/>
          </a:prstGeom>
          <a:solidFill>
            <a:srgbClr val="132340"/>
          </a:solidFill>
          <a:ln w="19050">
            <a:solidFill>
              <a:srgbClr val="C0392B"/>
            </a:solidFill>
            <a:prstDash val="solid"/>
          </a:ln>
          <a:effectLst>
            <a:outerShdw sx="100000" sy="100000" kx="0" ky="0" algn="bl" rotWithShape="0" blurRad="101600" dist="25400" dir="8100000">
              <a:srgbClr val="000000">
                <a:alpha val="30000"/>
              </a:srgbClr>
            </a:outerShdw>
          </a:effectLst>
        </p:spPr>
      </p:sp>
      <p:sp>
        <p:nvSpPr>
          <p:cNvPr id="12" name="Shape 10"/>
          <p:cNvSpPr/>
          <p:nvPr/>
        </p:nvSpPr>
        <p:spPr>
          <a:xfrm>
            <a:off x="5989320" y="640080"/>
            <a:ext cx="64008" cy="777240"/>
          </a:xfrm>
          <a:prstGeom prst="rect">
            <a:avLst/>
          </a:prstGeom>
          <a:solidFill>
            <a:srgbClr val="C0392B"/>
          </a:solidFill>
          <a:ln w="12700">
            <a:solidFill>
              <a:srgbClr val="C0392B"/>
            </a:solidFill>
            <a:prstDash val="solid"/>
          </a:ln>
        </p:spPr>
      </p:sp>
      <p:pic>
        <p:nvPicPr>
          <p:cNvPr id="13" name="Image 0" descr="preencoded.png">    </p:cNvPr>
          <p:cNvPicPr>
            <a:picLocks noChangeAspect="1"/>
          </p:cNvPicPr>
          <p:nvPr/>
        </p:nvPicPr>
        <p:blipFill>
          <a:blip r:embed="rId1"/>
          <a:stretch>
            <a:fillRect/>
          </a:stretch>
        </p:blipFill>
        <p:spPr>
          <a:xfrm>
            <a:off x="6144768" y="804672"/>
            <a:ext cx="402336" cy="402336"/>
          </a:xfrm>
          <a:prstGeom prst="rect">
            <a:avLst/>
          </a:prstGeom>
        </p:spPr>
      </p:pic>
      <p:sp>
        <p:nvSpPr>
          <p:cNvPr id="14" name="Text 11"/>
          <p:cNvSpPr/>
          <p:nvPr/>
        </p:nvSpPr>
        <p:spPr>
          <a:xfrm>
            <a:off x="6656832" y="82296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Spam Classifier</a:t>
            </a:r>
            <a:endParaRPr lang="en-US" sz="1400" dirty="0"/>
          </a:p>
        </p:txBody>
      </p:sp>
      <p:sp>
        <p:nvSpPr>
          <p:cNvPr id="15" name="Shape 12"/>
          <p:cNvSpPr/>
          <p:nvPr/>
        </p:nvSpPr>
        <p:spPr>
          <a:xfrm>
            <a:off x="5989320" y="1645920"/>
            <a:ext cx="2926080" cy="777240"/>
          </a:xfrm>
          <a:prstGeom prst="rect">
            <a:avLst/>
          </a:prstGeom>
          <a:solidFill>
            <a:srgbClr val="132340"/>
          </a:solidFill>
          <a:ln w="19050">
            <a:solidFill>
              <a:srgbClr val="0E9AD1"/>
            </a:solidFill>
            <a:prstDash val="solid"/>
          </a:ln>
          <a:effectLst>
            <a:outerShdw sx="100000" sy="100000" kx="0" ky="0" algn="bl" rotWithShape="0" blurRad="101600" dist="25400" dir="8100000">
              <a:srgbClr val="000000">
                <a:alpha val="30000"/>
              </a:srgbClr>
            </a:outerShdw>
          </a:effectLst>
        </p:spPr>
      </p:sp>
      <p:sp>
        <p:nvSpPr>
          <p:cNvPr id="16" name="Shape 13"/>
          <p:cNvSpPr/>
          <p:nvPr/>
        </p:nvSpPr>
        <p:spPr>
          <a:xfrm>
            <a:off x="5989320" y="1645920"/>
            <a:ext cx="64008" cy="777240"/>
          </a:xfrm>
          <a:prstGeom prst="rect">
            <a:avLst/>
          </a:prstGeom>
          <a:solidFill>
            <a:srgbClr val="0E9AD1"/>
          </a:solidFill>
          <a:ln w="12700">
            <a:solidFill>
              <a:srgbClr val="0E9AD1"/>
            </a:solidFill>
            <a:prstDash val="solid"/>
          </a:ln>
        </p:spPr>
      </p:sp>
      <p:pic>
        <p:nvPicPr>
          <p:cNvPr id="17" name="Image 1" descr="preencoded.png">    </p:cNvPr>
          <p:cNvPicPr>
            <a:picLocks noChangeAspect="1"/>
          </p:cNvPicPr>
          <p:nvPr/>
        </p:nvPicPr>
        <p:blipFill>
          <a:blip r:embed="rId2"/>
          <a:stretch>
            <a:fillRect/>
          </a:stretch>
        </p:blipFill>
        <p:spPr>
          <a:xfrm>
            <a:off x="6144768" y="1810512"/>
            <a:ext cx="402336" cy="402336"/>
          </a:xfrm>
          <a:prstGeom prst="rect">
            <a:avLst/>
          </a:prstGeom>
        </p:spPr>
      </p:pic>
      <p:sp>
        <p:nvSpPr>
          <p:cNvPr id="18" name="Text 14"/>
          <p:cNvSpPr/>
          <p:nvPr/>
        </p:nvSpPr>
        <p:spPr>
          <a:xfrm>
            <a:off x="6656832" y="182880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Language Detection</a:t>
            </a:r>
            <a:endParaRPr lang="en-US" sz="1400" dirty="0"/>
          </a:p>
        </p:txBody>
      </p:sp>
      <p:sp>
        <p:nvSpPr>
          <p:cNvPr id="19" name="Shape 15"/>
          <p:cNvSpPr/>
          <p:nvPr/>
        </p:nvSpPr>
        <p:spPr>
          <a:xfrm>
            <a:off x="5989320" y="2651760"/>
            <a:ext cx="2926080" cy="777240"/>
          </a:xfrm>
          <a:prstGeom prst="rect">
            <a:avLst/>
          </a:prstGeom>
          <a:solidFill>
            <a:srgbClr val="132340"/>
          </a:solidFill>
          <a:ln w="19050">
            <a:solidFill>
              <a:srgbClr val="0D7A6B"/>
            </a:solidFill>
            <a:prstDash val="solid"/>
          </a:ln>
          <a:effectLst>
            <a:outerShdw sx="100000" sy="100000" kx="0" ky="0" algn="bl" rotWithShape="0" blurRad="101600" dist="25400" dir="8100000">
              <a:srgbClr val="000000">
                <a:alpha val="30000"/>
              </a:srgbClr>
            </a:outerShdw>
          </a:effectLst>
        </p:spPr>
      </p:sp>
      <p:sp>
        <p:nvSpPr>
          <p:cNvPr id="20" name="Shape 16"/>
          <p:cNvSpPr/>
          <p:nvPr/>
        </p:nvSpPr>
        <p:spPr>
          <a:xfrm>
            <a:off x="5989320" y="2651760"/>
            <a:ext cx="64008" cy="777240"/>
          </a:xfrm>
          <a:prstGeom prst="rect">
            <a:avLst/>
          </a:prstGeom>
          <a:solidFill>
            <a:srgbClr val="0D7A6B"/>
          </a:solidFill>
          <a:ln w="12700">
            <a:solidFill>
              <a:srgbClr val="0D7A6B"/>
            </a:solidFill>
            <a:prstDash val="solid"/>
          </a:ln>
        </p:spPr>
      </p:sp>
      <p:pic>
        <p:nvPicPr>
          <p:cNvPr id="21" name="Image 2" descr="preencoded.png">    </p:cNvPr>
          <p:cNvPicPr>
            <a:picLocks noChangeAspect="1"/>
          </p:cNvPicPr>
          <p:nvPr/>
        </p:nvPicPr>
        <p:blipFill>
          <a:blip r:embed="rId3"/>
          <a:stretch>
            <a:fillRect/>
          </a:stretch>
        </p:blipFill>
        <p:spPr>
          <a:xfrm>
            <a:off x="6144768" y="2816352"/>
            <a:ext cx="402336" cy="402336"/>
          </a:xfrm>
          <a:prstGeom prst="rect">
            <a:avLst/>
          </a:prstGeom>
        </p:spPr>
      </p:pic>
      <p:sp>
        <p:nvSpPr>
          <p:cNvPr id="22" name="Text 17"/>
          <p:cNvSpPr/>
          <p:nvPr/>
        </p:nvSpPr>
        <p:spPr>
          <a:xfrm>
            <a:off x="6656832" y="283464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Food Sentiment</a:t>
            </a:r>
            <a:endParaRPr lang="en-US" sz="1400" dirty="0"/>
          </a:p>
        </p:txBody>
      </p:sp>
      <p:sp>
        <p:nvSpPr>
          <p:cNvPr id="23" name="Shape 18"/>
          <p:cNvSpPr/>
          <p:nvPr/>
        </p:nvSpPr>
        <p:spPr>
          <a:xfrm>
            <a:off x="5989320" y="3657600"/>
            <a:ext cx="2926080" cy="777240"/>
          </a:xfrm>
          <a:prstGeom prst="rect">
            <a:avLst/>
          </a:prstGeom>
          <a:solidFill>
            <a:srgbClr val="132340"/>
          </a:solidFill>
          <a:ln w="19050">
            <a:solidFill>
              <a:srgbClr val="E8680C"/>
            </a:solidFill>
            <a:prstDash val="solid"/>
          </a:ln>
          <a:effectLst>
            <a:outerShdw sx="100000" sy="100000" kx="0" ky="0" algn="bl" rotWithShape="0" blurRad="101600" dist="25400" dir="8100000">
              <a:srgbClr val="000000">
                <a:alpha val="30000"/>
              </a:srgbClr>
            </a:outerShdw>
          </a:effectLst>
        </p:spPr>
      </p:sp>
      <p:sp>
        <p:nvSpPr>
          <p:cNvPr id="24" name="Shape 19"/>
          <p:cNvSpPr/>
          <p:nvPr/>
        </p:nvSpPr>
        <p:spPr>
          <a:xfrm>
            <a:off x="5989320" y="3657600"/>
            <a:ext cx="64008" cy="777240"/>
          </a:xfrm>
          <a:prstGeom prst="rect">
            <a:avLst/>
          </a:prstGeom>
          <a:solidFill>
            <a:srgbClr val="E8680C"/>
          </a:solidFill>
          <a:ln w="12700">
            <a:solidFill>
              <a:srgbClr val="E8680C"/>
            </a:solidFill>
            <a:prstDash val="solid"/>
          </a:ln>
        </p:spPr>
      </p:sp>
      <p:pic>
        <p:nvPicPr>
          <p:cNvPr id="25" name="Image 3" descr="preencoded.png">    </p:cNvPr>
          <p:cNvPicPr>
            <a:picLocks noChangeAspect="1"/>
          </p:cNvPicPr>
          <p:nvPr/>
        </p:nvPicPr>
        <p:blipFill>
          <a:blip r:embed="rId4"/>
          <a:stretch>
            <a:fillRect/>
          </a:stretch>
        </p:blipFill>
        <p:spPr>
          <a:xfrm>
            <a:off x="6144768" y="3822192"/>
            <a:ext cx="402336" cy="402336"/>
          </a:xfrm>
          <a:prstGeom prst="rect">
            <a:avLst/>
          </a:prstGeom>
        </p:spPr>
      </p:pic>
      <p:sp>
        <p:nvSpPr>
          <p:cNvPr id="26" name="Text 20"/>
          <p:cNvSpPr/>
          <p:nvPr/>
        </p:nvSpPr>
        <p:spPr>
          <a:xfrm>
            <a:off x="6656832" y="384048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News Classification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73152"/>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THE PROBLEM</a:t>
            </a:r>
            <a:endParaRPr lang="en-US" sz="1300" dirty="0"/>
          </a:p>
        </p:txBody>
      </p:sp>
      <p:sp>
        <p:nvSpPr>
          <p:cNvPr id="4" name="Text 2"/>
          <p:cNvSpPr/>
          <p:nvPr/>
        </p:nvSpPr>
        <p:spPr>
          <a:xfrm>
            <a:off x="365760" y="777240"/>
            <a:ext cx="8412480" cy="7772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India is Growing. So are its Digital Problems.</a:t>
            </a:r>
            <a:endParaRPr lang="en-US" sz="2800" dirty="0"/>
          </a:p>
        </p:txBody>
      </p:sp>
      <p:sp>
        <p:nvSpPr>
          <p:cNvPr id="5" name="Shape 3"/>
          <p:cNvSpPr/>
          <p:nvPr/>
        </p:nvSpPr>
        <p:spPr>
          <a:xfrm>
            <a:off x="274320" y="1783080"/>
            <a:ext cx="1920240" cy="1691640"/>
          </a:xfrm>
          <a:prstGeom prst="rect">
            <a:avLst/>
          </a:prstGeom>
          <a:solidFill>
            <a:srgbClr val="FFFFFF"/>
          </a:solidFill>
          <a:ln w="25400">
            <a:solidFill>
              <a:srgbClr val="1B4F8A"/>
            </a:solidFill>
            <a:prstDash val="solid"/>
          </a:ln>
          <a:effectLst>
            <a:outerShdw sx="100000" sy="100000" kx="0" ky="0" algn="bl" rotWithShape="0" blurRad="127000" dist="38100" dir="8100000">
              <a:srgbClr val="000000">
                <a:alpha val="12000"/>
              </a:srgbClr>
            </a:outerShdw>
          </a:effectLst>
        </p:spPr>
      </p:sp>
      <p:sp>
        <p:nvSpPr>
          <p:cNvPr id="6" name="Shape 4"/>
          <p:cNvSpPr/>
          <p:nvPr/>
        </p:nvSpPr>
        <p:spPr>
          <a:xfrm>
            <a:off x="274320" y="1783080"/>
            <a:ext cx="1920240" cy="73152"/>
          </a:xfrm>
          <a:prstGeom prst="rect">
            <a:avLst/>
          </a:prstGeom>
          <a:solidFill>
            <a:srgbClr val="1B4F8A"/>
          </a:solidFill>
          <a:ln w="12700">
            <a:solidFill>
              <a:srgbClr val="1B4F8A"/>
            </a:solidFill>
            <a:prstDash val="solid"/>
          </a:ln>
        </p:spPr>
      </p:sp>
      <p:sp>
        <p:nvSpPr>
          <p:cNvPr id="7" name="Text 5"/>
          <p:cNvSpPr/>
          <p:nvPr/>
        </p:nvSpPr>
        <p:spPr>
          <a:xfrm>
            <a:off x="365760" y="1920240"/>
            <a:ext cx="1737360" cy="640080"/>
          </a:xfrm>
          <a:prstGeom prst="rect">
            <a:avLst/>
          </a:prstGeom>
          <a:noFill/>
          <a:ln/>
        </p:spPr>
        <p:txBody>
          <a:bodyPr wrap="square" lIns="0" tIns="0" rIns="0" bIns="0" rtlCol="0" anchor="ctr"/>
          <a:lstStyle/>
          <a:p>
            <a:pPr algn="ctr" indent="0" marL="0">
              <a:buNone/>
            </a:pPr>
            <a:r>
              <a:rPr lang="en-US" sz="3400" b="1" dirty="0">
                <a:solidFill>
                  <a:srgbClr val="1B4F8A"/>
                </a:solidFill>
                <a:latin typeface="Calibri" pitchFamily="34" charset="0"/>
                <a:ea typeface="Calibri" pitchFamily="34" charset="-122"/>
                <a:cs typeface="Calibri" pitchFamily="34" charset="-120"/>
              </a:rPr>
              <a:t>1.4B</a:t>
            </a:r>
            <a:endParaRPr lang="en-US" sz="3400" dirty="0"/>
          </a:p>
        </p:txBody>
      </p:sp>
      <p:sp>
        <p:nvSpPr>
          <p:cNvPr id="8" name="Text 6"/>
          <p:cNvSpPr/>
          <p:nvPr/>
        </p:nvSpPr>
        <p:spPr>
          <a:xfrm>
            <a:off x="365760"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Population</a:t>
            </a:r>
            <a:endParaRPr lang="en-US" sz="1300" dirty="0"/>
          </a:p>
        </p:txBody>
      </p:sp>
      <p:sp>
        <p:nvSpPr>
          <p:cNvPr id="9" name="Text 7"/>
          <p:cNvSpPr/>
          <p:nvPr/>
        </p:nvSpPr>
        <p:spPr>
          <a:xfrm>
            <a:off x="365760"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Fastest growing major economy</a:t>
            </a:r>
            <a:endParaRPr lang="en-US" sz="1000" dirty="0"/>
          </a:p>
        </p:txBody>
      </p:sp>
      <p:sp>
        <p:nvSpPr>
          <p:cNvPr id="10" name="Shape 8"/>
          <p:cNvSpPr/>
          <p:nvPr/>
        </p:nvSpPr>
        <p:spPr>
          <a:xfrm>
            <a:off x="2450592" y="1783080"/>
            <a:ext cx="1920240" cy="1691640"/>
          </a:xfrm>
          <a:prstGeom prst="rect">
            <a:avLst/>
          </a:prstGeom>
          <a:solidFill>
            <a:srgbClr val="FFFFFF"/>
          </a:solidFill>
          <a:ln w="25400">
            <a:solidFill>
              <a:srgbClr val="0D7A6B"/>
            </a:solidFill>
            <a:prstDash val="solid"/>
          </a:ln>
          <a:effectLst>
            <a:outerShdw sx="100000" sy="100000" kx="0" ky="0" algn="bl" rotWithShape="0" blurRad="127000" dist="38100" dir="8100000">
              <a:srgbClr val="000000">
                <a:alpha val="12000"/>
              </a:srgbClr>
            </a:outerShdw>
          </a:effectLst>
        </p:spPr>
      </p:sp>
      <p:sp>
        <p:nvSpPr>
          <p:cNvPr id="11" name="Shape 9"/>
          <p:cNvSpPr/>
          <p:nvPr/>
        </p:nvSpPr>
        <p:spPr>
          <a:xfrm>
            <a:off x="2450592" y="1783080"/>
            <a:ext cx="1920240" cy="73152"/>
          </a:xfrm>
          <a:prstGeom prst="rect">
            <a:avLst/>
          </a:prstGeom>
          <a:solidFill>
            <a:srgbClr val="0D7A6B"/>
          </a:solidFill>
          <a:ln w="12700">
            <a:solidFill>
              <a:srgbClr val="0D7A6B"/>
            </a:solidFill>
            <a:prstDash val="solid"/>
          </a:ln>
        </p:spPr>
      </p:sp>
      <p:sp>
        <p:nvSpPr>
          <p:cNvPr id="12" name="Text 10"/>
          <p:cNvSpPr/>
          <p:nvPr/>
        </p:nvSpPr>
        <p:spPr>
          <a:xfrm>
            <a:off x="2542032" y="1920240"/>
            <a:ext cx="1737360" cy="640080"/>
          </a:xfrm>
          <a:prstGeom prst="rect">
            <a:avLst/>
          </a:prstGeom>
          <a:noFill/>
          <a:ln/>
        </p:spPr>
        <p:txBody>
          <a:bodyPr wrap="square" lIns="0" tIns="0" rIns="0" bIns="0" rtlCol="0" anchor="ctr"/>
          <a:lstStyle/>
          <a:p>
            <a:pPr algn="ctr" indent="0" marL="0">
              <a:buNone/>
            </a:pPr>
            <a:r>
              <a:rPr lang="en-US" sz="3400" b="1" dirty="0">
                <a:solidFill>
                  <a:srgbClr val="0D7A6B"/>
                </a:solidFill>
                <a:latin typeface="Calibri" pitchFamily="34" charset="0"/>
                <a:ea typeface="Calibri" pitchFamily="34" charset="-122"/>
                <a:cs typeface="Calibri" pitchFamily="34" charset="-120"/>
              </a:rPr>
              <a:t>850M+</a:t>
            </a:r>
            <a:endParaRPr lang="en-US" sz="3400" dirty="0"/>
          </a:p>
        </p:txBody>
      </p:sp>
      <p:sp>
        <p:nvSpPr>
          <p:cNvPr id="13" name="Text 11"/>
          <p:cNvSpPr/>
          <p:nvPr/>
        </p:nvSpPr>
        <p:spPr>
          <a:xfrm>
            <a:off x="2542032"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Internet Users</a:t>
            </a:r>
            <a:endParaRPr lang="en-US" sz="1300" dirty="0"/>
          </a:p>
        </p:txBody>
      </p:sp>
      <p:sp>
        <p:nvSpPr>
          <p:cNvPr id="14" name="Text 12"/>
          <p:cNvSpPr/>
          <p:nvPr/>
        </p:nvSpPr>
        <p:spPr>
          <a:xfrm>
            <a:off x="2542032"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2nd largest online population</a:t>
            </a:r>
            <a:endParaRPr lang="en-US" sz="1000" dirty="0"/>
          </a:p>
        </p:txBody>
      </p:sp>
      <p:sp>
        <p:nvSpPr>
          <p:cNvPr id="15" name="Shape 13"/>
          <p:cNvSpPr/>
          <p:nvPr/>
        </p:nvSpPr>
        <p:spPr>
          <a:xfrm>
            <a:off x="4626864" y="1783080"/>
            <a:ext cx="1920240" cy="1691640"/>
          </a:xfrm>
          <a:prstGeom prst="rect">
            <a:avLst/>
          </a:prstGeom>
          <a:solidFill>
            <a:srgbClr val="FFFFFF"/>
          </a:solidFill>
          <a:ln w="25400">
            <a:solidFill>
              <a:srgbClr val="E8680C"/>
            </a:solidFill>
            <a:prstDash val="solid"/>
          </a:ln>
          <a:effectLst>
            <a:outerShdw sx="100000" sy="100000" kx="0" ky="0" algn="bl" rotWithShape="0" blurRad="127000" dist="38100" dir="8100000">
              <a:srgbClr val="000000">
                <a:alpha val="12000"/>
              </a:srgbClr>
            </a:outerShdw>
          </a:effectLst>
        </p:spPr>
      </p:sp>
      <p:sp>
        <p:nvSpPr>
          <p:cNvPr id="16" name="Shape 14"/>
          <p:cNvSpPr/>
          <p:nvPr/>
        </p:nvSpPr>
        <p:spPr>
          <a:xfrm>
            <a:off x="4626864" y="1783080"/>
            <a:ext cx="1920240" cy="73152"/>
          </a:xfrm>
          <a:prstGeom prst="rect">
            <a:avLst/>
          </a:prstGeom>
          <a:solidFill>
            <a:srgbClr val="E8680C"/>
          </a:solidFill>
          <a:ln w="12700">
            <a:solidFill>
              <a:srgbClr val="E8680C"/>
            </a:solidFill>
            <a:prstDash val="solid"/>
          </a:ln>
        </p:spPr>
      </p:sp>
      <p:sp>
        <p:nvSpPr>
          <p:cNvPr id="17" name="Text 15"/>
          <p:cNvSpPr/>
          <p:nvPr/>
        </p:nvSpPr>
        <p:spPr>
          <a:xfrm>
            <a:off x="4718304" y="1920240"/>
            <a:ext cx="1737360" cy="640080"/>
          </a:xfrm>
          <a:prstGeom prst="rect">
            <a:avLst/>
          </a:prstGeom>
          <a:noFill/>
          <a:ln/>
        </p:spPr>
        <p:txBody>
          <a:bodyPr wrap="square" lIns="0" tIns="0" rIns="0" bIns="0" rtlCol="0" anchor="ctr"/>
          <a:lstStyle/>
          <a:p>
            <a:pPr algn="ctr" indent="0" marL="0">
              <a:buNone/>
            </a:pPr>
            <a:r>
              <a:rPr lang="en-US" sz="3400" b="1" dirty="0">
                <a:solidFill>
                  <a:srgbClr val="E8680C"/>
                </a:solidFill>
                <a:latin typeface="Calibri" pitchFamily="34" charset="0"/>
                <a:ea typeface="Calibri" pitchFamily="34" charset="-122"/>
                <a:cs typeface="Calibri" pitchFamily="34" charset="-120"/>
              </a:rPr>
              <a:t>22+</a:t>
            </a:r>
            <a:endParaRPr lang="en-US" sz="3400" dirty="0"/>
          </a:p>
        </p:txBody>
      </p:sp>
      <p:sp>
        <p:nvSpPr>
          <p:cNvPr id="18" name="Text 16"/>
          <p:cNvSpPr/>
          <p:nvPr/>
        </p:nvSpPr>
        <p:spPr>
          <a:xfrm>
            <a:off x="4718304"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Official Languages</a:t>
            </a:r>
            <a:endParaRPr lang="en-US" sz="1300" dirty="0"/>
          </a:p>
        </p:txBody>
      </p:sp>
      <p:sp>
        <p:nvSpPr>
          <p:cNvPr id="19" name="Text 17"/>
          <p:cNvSpPr/>
          <p:nvPr/>
        </p:nvSpPr>
        <p:spPr>
          <a:xfrm>
            <a:off x="4718304"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Massive multilingual challenge</a:t>
            </a:r>
            <a:endParaRPr lang="en-US" sz="1000" dirty="0"/>
          </a:p>
        </p:txBody>
      </p:sp>
      <p:sp>
        <p:nvSpPr>
          <p:cNvPr id="20" name="Shape 18"/>
          <p:cNvSpPr/>
          <p:nvPr/>
        </p:nvSpPr>
        <p:spPr>
          <a:xfrm>
            <a:off x="6803136" y="1783080"/>
            <a:ext cx="1920240" cy="1691640"/>
          </a:xfrm>
          <a:prstGeom prst="rect">
            <a:avLst/>
          </a:prstGeom>
          <a:solidFill>
            <a:srgbClr val="FFFFFF"/>
          </a:solidFill>
          <a:ln w="25400">
            <a:solidFill>
              <a:srgbClr val="C0392B"/>
            </a:solidFill>
            <a:prstDash val="solid"/>
          </a:ln>
          <a:effectLst>
            <a:outerShdw sx="100000" sy="100000" kx="0" ky="0" algn="bl" rotWithShape="0" blurRad="127000" dist="38100" dir="8100000">
              <a:srgbClr val="000000">
                <a:alpha val="12000"/>
              </a:srgbClr>
            </a:outerShdw>
          </a:effectLst>
        </p:spPr>
      </p:sp>
      <p:sp>
        <p:nvSpPr>
          <p:cNvPr id="21" name="Shape 19"/>
          <p:cNvSpPr/>
          <p:nvPr/>
        </p:nvSpPr>
        <p:spPr>
          <a:xfrm>
            <a:off x="6803136" y="1783080"/>
            <a:ext cx="1920240" cy="73152"/>
          </a:xfrm>
          <a:prstGeom prst="rect">
            <a:avLst/>
          </a:prstGeom>
          <a:solidFill>
            <a:srgbClr val="C0392B"/>
          </a:solidFill>
          <a:ln w="12700">
            <a:solidFill>
              <a:srgbClr val="C0392B"/>
            </a:solidFill>
            <a:prstDash val="solid"/>
          </a:ln>
        </p:spPr>
      </p:sp>
      <p:sp>
        <p:nvSpPr>
          <p:cNvPr id="22" name="Text 20"/>
          <p:cNvSpPr/>
          <p:nvPr/>
        </p:nvSpPr>
        <p:spPr>
          <a:xfrm>
            <a:off x="6894576" y="1920240"/>
            <a:ext cx="1737360" cy="640080"/>
          </a:xfrm>
          <a:prstGeom prst="rect">
            <a:avLst/>
          </a:prstGeom>
          <a:noFill/>
          <a:ln/>
        </p:spPr>
        <p:txBody>
          <a:bodyPr wrap="square" lIns="0" tIns="0" rIns="0" bIns="0" rtlCol="0" anchor="ctr"/>
          <a:lstStyle/>
          <a:p>
            <a:pPr algn="ctr" indent="0" marL="0">
              <a:buNone/>
            </a:pPr>
            <a:r>
              <a:rPr lang="en-US" sz="3400" b="1" dirty="0">
                <a:solidFill>
                  <a:srgbClr val="C0392B"/>
                </a:solidFill>
                <a:latin typeface="Calibri" pitchFamily="34" charset="0"/>
                <a:ea typeface="Calibri" pitchFamily="34" charset="-122"/>
                <a:cs typeface="Calibri" pitchFamily="34" charset="-120"/>
              </a:rPr>
              <a:t>∞</a:t>
            </a:r>
            <a:endParaRPr lang="en-US" sz="3400" dirty="0"/>
          </a:p>
        </p:txBody>
      </p:sp>
      <p:sp>
        <p:nvSpPr>
          <p:cNvPr id="23" name="Text 21"/>
          <p:cNvSpPr/>
          <p:nvPr/>
        </p:nvSpPr>
        <p:spPr>
          <a:xfrm>
            <a:off x="6894576"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Daily Digital Content</a:t>
            </a:r>
            <a:endParaRPr lang="en-US" sz="1300" dirty="0"/>
          </a:p>
        </p:txBody>
      </p:sp>
      <p:sp>
        <p:nvSpPr>
          <p:cNvPr id="24" name="Text 22"/>
          <p:cNvSpPr/>
          <p:nvPr/>
        </p:nvSpPr>
        <p:spPr>
          <a:xfrm>
            <a:off x="6894576"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News, reviews, messages — unfiltered</a:t>
            </a:r>
            <a:endParaRPr lang="en-US" sz="1000" dirty="0"/>
          </a:p>
        </p:txBody>
      </p:sp>
      <p:sp>
        <p:nvSpPr>
          <p:cNvPr id="25" name="Shape 23"/>
          <p:cNvSpPr/>
          <p:nvPr/>
        </p:nvSpPr>
        <p:spPr>
          <a:xfrm>
            <a:off x="274320" y="3749040"/>
            <a:ext cx="8595360" cy="1005840"/>
          </a:xfrm>
          <a:prstGeom prst="rect">
            <a:avLst/>
          </a:prstGeom>
          <a:solidFill>
            <a:srgbClr val="0A1628"/>
          </a:solidFill>
          <a:ln w="12700">
            <a:solidFill>
              <a:srgbClr val="0A1628"/>
            </a:solidFill>
            <a:prstDash val="solid"/>
          </a:ln>
        </p:spPr>
      </p:sp>
      <p:sp>
        <p:nvSpPr>
          <p:cNvPr id="26" name="Text 24"/>
          <p:cNvSpPr/>
          <p:nvPr/>
        </p:nvSpPr>
        <p:spPr>
          <a:xfrm>
            <a:off x="502920" y="3822192"/>
            <a:ext cx="8138160" cy="841248"/>
          </a:xfrm>
          <a:prstGeom prst="rect">
            <a:avLst/>
          </a:prstGeom>
          <a:noFill/>
          <a:ln/>
        </p:spPr>
        <p:txBody>
          <a:bodyPr wrap="square" lIns="0" tIns="0" rIns="0" bIns="0" rtlCol="0" anchor="ctr"/>
          <a:lstStyle/>
          <a:p>
            <a:pPr algn="ctr" indent="0" marL="0">
              <a:buNone/>
            </a:pPr>
            <a:r>
              <a:rPr lang="en-US" sz="1300" i="1" dirty="0">
                <a:solidFill>
                  <a:srgbClr val="F5F0E8"/>
                </a:solidFill>
                <a:latin typeface="Calibri" pitchFamily="34" charset="0"/>
                <a:ea typeface="Calibri" pitchFamily="34" charset="-122"/>
                <a:cs typeface="Calibri" pitchFamily="34" charset="-120"/>
              </a:rPr>
              <a:t>As India's population surges, so does the volume of unfiltered digital content — spam messages, unverified reviews, language-locked information, and unlabelled news. There is no single intelligent tool to handle all of this. Until now.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28600"/>
            <a:ext cx="8412480" cy="548640"/>
          </a:xfrm>
          <a:prstGeom prst="rect">
            <a:avLst/>
          </a:prstGeom>
          <a:noFill/>
          <a:ln/>
        </p:spPr>
        <p:txBody>
          <a:bodyPr wrap="square" lIns="0" tIns="0" rIns="0" bIns="0" rtlCol="0" anchor="ctr"/>
          <a:lstStyle/>
          <a:p>
            <a:pPr algn="ctr" indent="0" marL="0">
              <a:buNone/>
            </a:pPr>
            <a:r>
              <a:rPr lang="en-US" sz="2400" b="1" spc="200" kern="0" dirty="0">
                <a:solidFill>
                  <a:srgbClr val="FFFFFF"/>
                </a:solidFill>
                <a:latin typeface="Calibri" pitchFamily="34" charset="0"/>
                <a:ea typeface="Calibri" pitchFamily="34" charset="-122"/>
                <a:cs typeface="Calibri" pitchFamily="34" charset="-120"/>
              </a:rPr>
              <a:t>4 PROBLEMS. 4 SOLUTIONS. 1 SUITE.</a:t>
            </a:r>
            <a:endParaRPr lang="en-US" sz="2400" dirty="0"/>
          </a:p>
        </p:txBody>
      </p:sp>
      <p:sp>
        <p:nvSpPr>
          <p:cNvPr id="3" name="Shape 1"/>
          <p:cNvSpPr/>
          <p:nvPr/>
        </p:nvSpPr>
        <p:spPr>
          <a:xfrm>
            <a:off x="3200400" y="804672"/>
            <a:ext cx="2743200" cy="36576"/>
          </a:xfrm>
          <a:prstGeom prst="rect">
            <a:avLst/>
          </a:prstGeom>
          <a:solidFill>
            <a:srgbClr val="0E9AD1"/>
          </a:solidFill>
          <a:ln w="12700">
            <a:solidFill>
              <a:srgbClr val="0E9AD1"/>
            </a:solidFill>
            <a:prstDash val="solid"/>
          </a:ln>
        </p:spPr>
      </p:sp>
      <p:sp>
        <p:nvSpPr>
          <p:cNvPr id="4" name="Shape 2"/>
          <p:cNvSpPr/>
          <p:nvPr/>
        </p:nvSpPr>
        <p:spPr>
          <a:xfrm>
            <a:off x="228600" y="1005840"/>
            <a:ext cx="4114800" cy="1737360"/>
          </a:xfrm>
          <a:prstGeom prst="rect">
            <a:avLst/>
          </a:prstGeom>
          <a:solidFill>
            <a:srgbClr val="132340"/>
          </a:solidFill>
          <a:ln w="19050">
            <a:solidFill>
              <a:srgbClr val="C0392B"/>
            </a:solidFill>
            <a:prstDash val="solid"/>
          </a:ln>
          <a:effectLst>
            <a:outerShdw sx="100000" sy="100000" kx="0" ky="0" algn="bl" rotWithShape="0" blurRad="127000" dist="38100" dir="8100000">
              <a:srgbClr val="000000">
                <a:alpha val="35000"/>
              </a:srgbClr>
            </a:outerShdw>
          </a:effectLst>
        </p:spPr>
      </p:sp>
      <p:sp>
        <p:nvSpPr>
          <p:cNvPr id="5" name="Shape 3"/>
          <p:cNvSpPr/>
          <p:nvPr/>
        </p:nvSpPr>
        <p:spPr>
          <a:xfrm>
            <a:off x="228600" y="1005840"/>
            <a:ext cx="4114800" cy="54864"/>
          </a:xfrm>
          <a:prstGeom prst="rect">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393192" y="1188720"/>
            <a:ext cx="365760" cy="365760"/>
          </a:xfrm>
          <a:prstGeom prst="rect">
            <a:avLst/>
          </a:prstGeom>
        </p:spPr>
      </p:pic>
      <p:sp>
        <p:nvSpPr>
          <p:cNvPr id="7" name="Text 4"/>
          <p:cNvSpPr/>
          <p:nvPr/>
        </p:nvSpPr>
        <p:spPr>
          <a:xfrm>
            <a:off x="886968" y="111556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Spam Classifier — instantly flags spam vs. legitimate messages.</a:t>
            </a:r>
            <a:endParaRPr lang="en-US" sz="1200" dirty="0"/>
          </a:p>
        </p:txBody>
      </p:sp>
      <p:sp>
        <p:nvSpPr>
          <p:cNvPr id="8" name="Text 5"/>
          <p:cNvSpPr/>
          <p:nvPr/>
        </p:nvSpPr>
        <p:spPr>
          <a:xfrm>
            <a:off x="393192" y="166420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Spam overload in business &amp; personal communication is causing massive trust issues.</a:t>
            </a:r>
            <a:endParaRPr lang="en-US" sz="1100" dirty="0"/>
          </a:p>
        </p:txBody>
      </p:sp>
      <p:sp>
        <p:nvSpPr>
          <p:cNvPr id="9" name="Text 6"/>
          <p:cNvSpPr/>
          <p:nvPr/>
        </p:nvSpPr>
        <p:spPr>
          <a:xfrm>
            <a:off x="393192" y="2395728"/>
            <a:ext cx="3749040" cy="274320"/>
          </a:xfrm>
          <a:prstGeom prst="rect">
            <a:avLst/>
          </a:prstGeom>
          <a:noFill/>
          <a:ln/>
        </p:spPr>
        <p:txBody>
          <a:bodyPr wrap="square" lIns="0" tIns="0" rIns="0" bIns="0" rtlCol="0" anchor="ctr"/>
          <a:lstStyle/>
          <a:p>
            <a:pPr indent="0" marL="0">
              <a:buNone/>
            </a:pPr>
            <a:r>
              <a:rPr lang="en-US" sz="1000" b="1" i="1" dirty="0">
                <a:solidFill>
                  <a:srgbClr val="C0392B"/>
                </a:solidFill>
                <a:latin typeface="Calibri" pitchFamily="34" charset="0"/>
                <a:ea typeface="Calibri" pitchFamily="34" charset="-122"/>
                <a:cs typeface="Calibri" pitchFamily="34" charset="-120"/>
              </a:rPr>
              <a:t>📊 45% of all emails worldwide are spam</a:t>
            </a:r>
            <a:endParaRPr lang="en-US" sz="1000" dirty="0"/>
          </a:p>
        </p:txBody>
      </p:sp>
      <p:sp>
        <p:nvSpPr>
          <p:cNvPr id="10" name="Shape 7"/>
          <p:cNvSpPr/>
          <p:nvPr/>
        </p:nvSpPr>
        <p:spPr>
          <a:xfrm>
            <a:off x="228600" y="2926080"/>
            <a:ext cx="4114800" cy="1737360"/>
          </a:xfrm>
          <a:prstGeom prst="rect">
            <a:avLst/>
          </a:prstGeom>
          <a:solidFill>
            <a:srgbClr val="132340"/>
          </a:solidFill>
          <a:ln w="19050">
            <a:solidFill>
              <a:srgbClr val="0D7A6B"/>
            </a:solidFill>
            <a:prstDash val="solid"/>
          </a:ln>
          <a:effectLst>
            <a:outerShdw sx="100000" sy="100000" kx="0" ky="0" algn="bl" rotWithShape="0" blurRad="127000" dist="38100" dir="8100000">
              <a:srgbClr val="000000">
                <a:alpha val="35000"/>
              </a:srgbClr>
            </a:outerShdw>
          </a:effectLst>
        </p:spPr>
      </p:sp>
      <p:sp>
        <p:nvSpPr>
          <p:cNvPr id="11" name="Shape 8"/>
          <p:cNvSpPr/>
          <p:nvPr/>
        </p:nvSpPr>
        <p:spPr>
          <a:xfrm>
            <a:off x="228600" y="2926080"/>
            <a:ext cx="4114800" cy="54864"/>
          </a:xfrm>
          <a:prstGeom prst="rect">
            <a:avLst/>
          </a:prstGeom>
          <a:solidFill>
            <a:srgbClr val="0D7A6B"/>
          </a:solidFill>
          <a:ln w="12700">
            <a:solidFill>
              <a:srgbClr val="0D7A6B"/>
            </a:solidFill>
            <a:prstDash val="solid"/>
          </a:ln>
        </p:spPr>
      </p:sp>
      <p:pic>
        <p:nvPicPr>
          <p:cNvPr id="12" name="Image 1" descr="preencoded.png">    </p:cNvPr>
          <p:cNvPicPr>
            <a:picLocks noChangeAspect="1"/>
          </p:cNvPicPr>
          <p:nvPr/>
        </p:nvPicPr>
        <p:blipFill>
          <a:blip r:embed="rId2"/>
          <a:stretch>
            <a:fillRect/>
          </a:stretch>
        </p:blipFill>
        <p:spPr>
          <a:xfrm>
            <a:off x="393192" y="3108960"/>
            <a:ext cx="365760" cy="365760"/>
          </a:xfrm>
          <a:prstGeom prst="rect">
            <a:avLst/>
          </a:prstGeom>
        </p:spPr>
      </p:pic>
      <p:sp>
        <p:nvSpPr>
          <p:cNvPr id="13" name="Text 9"/>
          <p:cNvSpPr/>
          <p:nvPr/>
        </p:nvSpPr>
        <p:spPr>
          <a:xfrm>
            <a:off x="886968" y="303580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Food Sentiment — identifies positive/negative reviews from real customer feedback.</a:t>
            </a:r>
            <a:endParaRPr lang="en-US" sz="1200" dirty="0"/>
          </a:p>
        </p:txBody>
      </p:sp>
      <p:sp>
        <p:nvSpPr>
          <p:cNvPr id="14" name="Text 10"/>
          <p:cNvSpPr/>
          <p:nvPr/>
        </p:nvSpPr>
        <p:spPr>
          <a:xfrm>
            <a:off x="393192" y="358444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India's food startup boom means customers can't trust reviews and owners can't improve.</a:t>
            </a:r>
            <a:endParaRPr lang="en-US" sz="1100" dirty="0"/>
          </a:p>
        </p:txBody>
      </p:sp>
      <p:sp>
        <p:nvSpPr>
          <p:cNvPr id="15" name="Text 11"/>
          <p:cNvSpPr/>
          <p:nvPr/>
        </p:nvSpPr>
        <p:spPr>
          <a:xfrm>
            <a:off x="393192" y="4315968"/>
            <a:ext cx="3749040" cy="274320"/>
          </a:xfrm>
          <a:prstGeom prst="rect">
            <a:avLst/>
          </a:prstGeom>
          <a:noFill/>
          <a:ln/>
        </p:spPr>
        <p:txBody>
          <a:bodyPr wrap="square" lIns="0" tIns="0" rIns="0" bIns="0" rtlCol="0" anchor="ctr"/>
          <a:lstStyle/>
          <a:p>
            <a:pPr indent="0" marL="0">
              <a:buNone/>
            </a:pPr>
            <a:r>
              <a:rPr lang="en-US" sz="1000" b="1" i="1" dirty="0">
                <a:solidFill>
                  <a:srgbClr val="0D7A6B"/>
                </a:solidFill>
                <a:latin typeface="Calibri" pitchFamily="34" charset="0"/>
                <a:ea typeface="Calibri" pitchFamily="34" charset="-122"/>
                <a:cs typeface="Calibri" pitchFamily="34" charset="-120"/>
              </a:rPr>
              <a:t>📊 5,000+ food startups launched in India in 2023</a:t>
            </a:r>
            <a:endParaRPr lang="en-US" sz="1000" dirty="0"/>
          </a:p>
        </p:txBody>
      </p:sp>
      <p:sp>
        <p:nvSpPr>
          <p:cNvPr id="16" name="Shape 12"/>
          <p:cNvSpPr/>
          <p:nvPr/>
        </p:nvSpPr>
        <p:spPr>
          <a:xfrm>
            <a:off x="4681728" y="1005840"/>
            <a:ext cx="4114800" cy="1737360"/>
          </a:xfrm>
          <a:prstGeom prst="rect">
            <a:avLst/>
          </a:prstGeom>
          <a:solidFill>
            <a:srgbClr val="132340"/>
          </a:solidFill>
          <a:ln w="19050">
            <a:solidFill>
              <a:srgbClr val="0E9AD1"/>
            </a:solidFill>
            <a:prstDash val="solid"/>
          </a:ln>
          <a:effectLst>
            <a:outerShdw sx="100000" sy="100000" kx="0" ky="0" algn="bl" rotWithShape="0" blurRad="127000" dist="38100" dir="8100000">
              <a:srgbClr val="000000">
                <a:alpha val="35000"/>
              </a:srgbClr>
            </a:outerShdw>
          </a:effectLst>
        </p:spPr>
      </p:sp>
      <p:sp>
        <p:nvSpPr>
          <p:cNvPr id="17" name="Shape 13"/>
          <p:cNvSpPr/>
          <p:nvPr/>
        </p:nvSpPr>
        <p:spPr>
          <a:xfrm>
            <a:off x="4681728" y="1005840"/>
            <a:ext cx="4114800" cy="54864"/>
          </a:xfrm>
          <a:prstGeom prst="rect">
            <a:avLst/>
          </a:prstGeom>
          <a:solidFill>
            <a:srgbClr val="0E9AD1"/>
          </a:solidFill>
          <a:ln w="12700">
            <a:solidFill>
              <a:srgbClr val="0E9AD1"/>
            </a:solidFill>
            <a:prstDash val="solid"/>
          </a:ln>
        </p:spPr>
      </p:sp>
      <p:pic>
        <p:nvPicPr>
          <p:cNvPr id="18" name="Image 2" descr="preencoded.png">    </p:cNvPr>
          <p:cNvPicPr>
            <a:picLocks noChangeAspect="1"/>
          </p:cNvPicPr>
          <p:nvPr/>
        </p:nvPicPr>
        <p:blipFill>
          <a:blip r:embed="rId3"/>
          <a:stretch>
            <a:fillRect/>
          </a:stretch>
        </p:blipFill>
        <p:spPr>
          <a:xfrm>
            <a:off x="4846320" y="1188720"/>
            <a:ext cx="365760" cy="365760"/>
          </a:xfrm>
          <a:prstGeom prst="rect">
            <a:avLst/>
          </a:prstGeom>
        </p:spPr>
      </p:pic>
      <p:sp>
        <p:nvSpPr>
          <p:cNvPr id="19" name="Text 14"/>
          <p:cNvSpPr/>
          <p:nvPr/>
        </p:nvSpPr>
        <p:spPr>
          <a:xfrm>
            <a:off x="5340096" y="111556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Language Detector — identifies 17 languages including Hindi, Tamil, Malayalam &amp; more.</a:t>
            </a:r>
            <a:endParaRPr lang="en-US" sz="1200" dirty="0"/>
          </a:p>
        </p:txBody>
      </p:sp>
      <p:sp>
        <p:nvSpPr>
          <p:cNvPr id="20" name="Text 15"/>
          <p:cNvSpPr/>
          <p:nvPr/>
        </p:nvSpPr>
        <p:spPr>
          <a:xfrm>
            <a:off x="4846320" y="166420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22 official languages create a content barrier — most NLP tools only support English.</a:t>
            </a:r>
            <a:endParaRPr lang="en-US" sz="1100" dirty="0"/>
          </a:p>
        </p:txBody>
      </p:sp>
      <p:sp>
        <p:nvSpPr>
          <p:cNvPr id="21" name="Text 16"/>
          <p:cNvSpPr/>
          <p:nvPr/>
        </p:nvSpPr>
        <p:spPr>
          <a:xfrm>
            <a:off x="4846320" y="2395728"/>
            <a:ext cx="3749040" cy="274320"/>
          </a:xfrm>
          <a:prstGeom prst="rect">
            <a:avLst/>
          </a:prstGeom>
          <a:noFill/>
          <a:ln/>
        </p:spPr>
        <p:txBody>
          <a:bodyPr wrap="square" lIns="0" tIns="0" rIns="0" bIns="0" rtlCol="0" anchor="ctr"/>
          <a:lstStyle/>
          <a:p>
            <a:pPr indent="0" marL="0">
              <a:buNone/>
            </a:pPr>
            <a:r>
              <a:rPr lang="en-US" sz="1000" b="1" i="1" dirty="0">
                <a:solidFill>
                  <a:srgbClr val="0E9AD1"/>
                </a:solidFill>
                <a:latin typeface="Calibri" pitchFamily="34" charset="0"/>
                <a:ea typeface="Calibri" pitchFamily="34" charset="-122"/>
                <a:cs typeface="Calibri" pitchFamily="34" charset="-120"/>
              </a:rPr>
              <a:t>📊 Only 12% of India's internet content is in Indian languages</a:t>
            </a:r>
            <a:endParaRPr lang="en-US" sz="1000" dirty="0"/>
          </a:p>
        </p:txBody>
      </p:sp>
      <p:sp>
        <p:nvSpPr>
          <p:cNvPr id="22" name="Shape 17"/>
          <p:cNvSpPr/>
          <p:nvPr/>
        </p:nvSpPr>
        <p:spPr>
          <a:xfrm>
            <a:off x="4681728" y="2926080"/>
            <a:ext cx="4114800" cy="1737360"/>
          </a:xfrm>
          <a:prstGeom prst="rect">
            <a:avLst/>
          </a:prstGeom>
          <a:solidFill>
            <a:srgbClr val="132340"/>
          </a:solidFill>
          <a:ln w="19050">
            <a:solidFill>
              <a:srgbClr val="E8680C"/>
            </a:solidFill>
            <a:prstDash val="solid"/>
          </a:ln>
          <a:effectLst>
            <a:outerShdw sx="100000" sy="100000" kx="0" ky="0" algn="bl" rotWithShape="0" blurRad="127000" dist="38100" dir="8100000">
              <a:srgbClr val="000000">
                <a:alpha val="35000"/>
              </a:srgbClr>
            </a:outerShdw>
          </a:effectLst>
        </p:spPr>
      </p:sp>
      <p:sp>
        <p:nvSpPr>
          <p:cNvPr id="23" name="Shape 18"/>
          <p:cNvSpPr/>
          <p:nvPr/>
        </p:nvSpPr>
        <p:spPr>
          <a:xfrm>
            <a:off x="4681728" y="2926080"/>
            <a:ext cx="4114800" cy="54864"/>
          </a:xfrm>
          <a:prstGeom prst="rect">
            <a:avLst/>
          </a:prstGeom>
          <a:solidFill>
            <a:srgbClr val="E8680C"/>
          </a:solidFill>
          <a:ln w="12700">
            <a:solidFill>
              <a:srgbClr val="E8680C"/>
            </a:solidFill>
            <a:prstDash val="solid"/>
          </a:ln>
        </p:spPr>
      </p:sp>
      <p:pic>
        <p:nvPicPr>
          <p:cNvPr id="24" name="Image 3" descr="preencoded.png">    </p:cNvPr>
          <p:cNvPicPr>
            <a:picLocks noChangeAspect="1"/>
          </p:cNvPicPr>
          <p:nvPr/>
        </p:nvPicPr>
        <p:blipFill>
          <a:blip r:embed="rId4"/>
          <a:stretch>
            <a:fillRect/>
          </a:stretch>
        </p:blipFill>
        <p:spPr>
          <a:xfrm>
            <a:off x="4846320" y="3108960"/>
            <a:ext cx="365760" cy="365760"/>
          </a:xfrm>
          <a:prstGeom prst="rect">
            <a:avLst/>
          </a:prstGeom>
        </p:spPr>
      </p:pic>
      <p:sp>
        <p:nvSpPr>
          <p:cNvPr id="25" name="Text 19"/>
          <p:cNvSpPr/>
          <p:nvPr/>
        </p:nvSpPr>
        <p:spPr>
          <a:xfrm>
            <a:off x="5340096" y="303580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News Classifier — auto-categorises articles into Sports, Tech, Politics, Health &amp; more.</a:t>
            </a:r>
            <a:endParaRPr lang="en-US" sz="1200" dirty="0"/>
          </a:p>
        </p:txBody>
      </p:sp>
      <p:sp>
        <p:nvSpPr>
          <p:cNvPr id="26" name="Text 20"/>
          <p:cNvSpPr/>
          <p:nvPr/>
        </p:nvSpPr>
        <p:spPr>
          <a:xfrm>
            <a:off x="4846320" y="358444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With hundreds of news sources, readers are overwhelmed and can't find relevant content.</a:t>
            </a:r>
            <a:endParaRPr lang="en-US" sz="1100" dirty="0"/>
          </a:p>
        </p:txBody>
      </p:sp>
      <p:sp>
        <p:nvSpPr>
          <p:cNvPr id="27" name="Text 21"/>
          <p:cNvSpPr/>
          <p:nvPr/>
        </p:nvSpPr>
        <p:spPr>
          <a:xfrm>
            <a:off x="4846320" y="4315968"/>
            <a:ext cx="3749040" cy="274320"/>
          </a:xfrm>
          <a:prstGeom prst="rect">
            <a:avLst/>
          </a:prstGeom>
          <a:noFill/>
          <a:ln/>
        </p:spPr>
        <p:txBody>
          <a:bodyPr wrap="square" lIns="0" tIns="0" rIns="0" bIns="0" rtlCol="0" anchor="ctr"/>
          <a:lstStyle/>
          <a:p>
            <a:pPr indent="0" marL="0">
              <a:buNone/>
            </a:pPr>
            <a:r>
              <a:rPr lang="en-US" sz="1000" b="1" i="1" dirty="0">
                <a:solidFill>
                  <a:srgbClr val="E8680C"/>
                </a:solidFill>
                <a:latin typeface="Calibri" pitchFamily="34" charset="0"/>
                <a:ea typeface="Calibri" pitchFamily="34" charset="-122"/>
                <a:cs typeface="Calibri" pitchFamily="34" charset="-120"/>
              </a:rPr>
              <a:t>📊 Over 100,000 news articles published in India daily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SOLUTION ARCHITECTURE</a:t>
            </a:r>
            <a:endParaRPr lang="en-US" sz="1300" dirty="0"/>
          </a:p>
        </p:txBody>
      </p:sp>
      <p:sp>
        <p:nvSpPr>
          <p:cNvPr id="4" name="Text 2"/>
          <p:cNvSpPr/>
          <p:nvPr/>
        </p:nvSpPr>
        <p:spPr>
          <a:xfrm>
            <a:off x="365760" y="777240"/>
            <a:ext cx="8229600" cy="54864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How Growth Matrix Works</a:t>
            </a:r>
            <a:endParaRPr lang="en-US" sz="2600" dirty="0"/>
          </a:p>
        </p:txBody>
      </p:sp>
      <p:sp>
        <p:nvSpPr>
          <p:cNvPr id="5" name="Shape 3"/>
          <p:cNvSpPr/>
          <p:nvPr/>
        </p:nvSpPr>
        <p:spPr>
          <a:xfrm>
            <a:off x="320040" y="1508760"/>
            <a:ext cx="1920240" cy="1188720"/>
          </a:xfrm>
          <a:prstGeom prst="rect">
            <a:avLst/>
          </a:prstGeom>
          <a:solidFill>
            <a:srgbClr val="1B4F8A"/>
          </a:solidFill>
          <a:ln/>
          <a:effectLst>
            <a:outerShdw sx="100000" sy="100000" kx="0" ky="0" algn="bl" rotWithShape="0" blurRad="101600" dist="38100" dir="8100000">
              <a:srgbClr val="000000">
                <a:alpha val="20000"/>
              </a:srgbClr>
            </a:outerShdw>
          </a:effectLst>
        </p:spPr>
      </p:sp>
      <p:sp>
        <p:nvSpPr>
          <p:cNvPr id="6" name="Text 4"/>
          <p:cNvSpPr/>
          <p:nvPr/>
        </p:nvSpPr>
        <p:spPr>
          <a:xfrm>
            <a:off x="411480"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User Input</a:t>
            </a:r>
            <a:endParaRPr lang="en-US" sz="1600" dirty="0"/>
          </a:p>
        </p:txBody>
      </p:sp>
      <p:sp>
        <p:nvSpPr>
          <p:cNvPr id="7" name="Text 5"/>
          <p:cNvSpPr/>
          <p:nvPr/>
        </p:nvSpPr>
        <p:spPr>
          <a:xfrm>
            <a:off x="411480"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Text / CSV File</a:t>
            </a:r>
            <a:endParaRPr lang="en-US" sz="1100" dirty="0"/>
          </a:p>
        </p:txBody>
      </p:sp>
      <p:sp>
        <p:nvSpPr>
          <p:cNvPr id="8" name="Shape 6"/>
          <p:cNvSpPr/>
          <p:nvPr/>
        </p:nvSpPr>
        <p:spPr>
          <a:xfrm>
            <a:off x="2258568" y="1993392"/>
            <a:ext cx="228600" cy="54864"/>
          </a:xfrm>
          <a:prstGeom prst="rect">
            <a:avLst/>
          </a:prstGeom>
          <a:solidFill>
            <a:srgbClr val="0A1628"/>
          </a:solidFill>
          <a:ln w="12700">
            <a:solidFill>
              <a:srgbClr val="0A1628"/>
            </a:solidFill>
            <a:prstDash val="solid"/>
          </a:ln>
        </p:spPr>
      </p:sp>
      <p:sp>
        <p:nvSpPr>
          <p:cNvPr id="9" name="Shape 7"/>
          <p:cNvSpPr/>
          <p:nvPr/>
        </p:nvSpPr>
        <p:spPr>
          <a:xfrm>
            <a:off x="2496312" y="1508760"/>
            <a:ext cx="1920240" cy="1188720"/>
          </a:xfrm>
          <a:prstGeom prst="rect">
            <a:avLst/>
          </a:prstGeom>
          <a:solidFill>
            <a:srgbClr val="0D7A6B"/>
          </a:solidFill>
          <a:ln/>
          <a:effectLst>
            <a:outerShdw sx="100000" sy="100000" kx="0" ky="0" algn="bl" rotWithShape="0" blurRad="101600" dist="38100" dir="8100000">
              <a:srgbClr val="000000">
                <a:alpha val="20000"/>
              </a:srgbClr>
            </a:outerShdw>
          </a:effectLst>
        </p:spPr>
      </p:sp>
      <p:sp>
        <p:nvSpPr>
          <p:cNvPr id="10" name="Text 8"/>
          <p:cNvSpPr/>
          <p:nvPr/>
        </p:nvSpPr>
        <p:spPr>
          <a:xfrm>
            <a:off x="2587752"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Preprocessing</a:t>
            </a:r>
            <a:endParaRPr lang="en-US" sz="1600" dirty="0"/>
          </a:p>
        </p:txBody>
      </p:sp>
      <p:sp>
        <p:nvSpPr>
          <p:cNvPr id="11" name="Text 9"/>
          <p:cNvSpPr/>
          <p:nvPr/>
        </p:nvSpPr>
        <p:spPr>
          <a:xfrm>
            <a:off x="2587752"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TF-IDF Vectorisation</a:t>
            </a:r>
            <a:endParaRPr lang="en-US" sz="1100" dirty="0"/>
          </a:p>
        </p:txBody>
      </p:sp>
      <p:sp>
        <p:nvSpPr>
          <p:cNvPr id="12" name="Shape 10"/>
          <p:cNvSpPr/>
          <p:nvPr/>
        </p:nvSpPr>
        <p:spPr>
          <a:xfrm>
            <a:off x="4434840" y="1993392"/>
            <a:ext cx="228600" cy="54864"/>
          </a:xfrm>
          <a:prstGeom prst="rect">
            <a:avLst/>
          </a:prstGeom>
          <a:solidFill>
            <a:srgbClr val="0A1628"/>
          </a:solidFill>
          <a:ln w="12700">
            <a:solidFill>
              <a:srgbClr val="0A1628"/>
            </a:solidFill>
            <a:prstDash val="solid"/>
          </a:ln>
        </p:spPr>
      </p:sp>
      <p:sp>
        <p:nvSpPr>
          <p:cNvPr id="13" name="Shape 11"/>
          <p:cNvSpPr/>
          <p:nvPr/>
        </p:nvSpPr>
        <p:spPr>
          <a:xfrm>
            <a:off x="4672584" y="1508760"/>
            <a:ext cx="1920240" cy="1188720"/>
          </a:xfrm>
          <a:prstGeom prst="rect">
            <a:avLst/>
          </a:prstGeom>
          <a:solidFill>
            <a:srgbClr val="E8680C"/>
          </a:solidFill>
          <a:ln/>
          <a:effectLst>
            <a:outerShdw sx="100000" sy="100000" kx="0" ky="0" algn="bl" rotWithShape="0" blurRad="101600" dist="38100" dir="8100000">
              <a:srgbClr val="000000">
                <a:alpha val="20000"/>
              </a:srgbClr>
            </a:outerShdw>
          </a:effectLst>
        </p:spPr>
      </p:sp>
      <p:sp>
        <p:nvSpPr>
          <p:cNvPr id="14" name="Text 12"/>
          <p:cNvSpPr/>
          <p:nvPr/>
        </p:nvSpPr>
        <p:spPr>
          <a:xfrm>
            <a:off x="4764024"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ML Model</a:t>
            </a:r>
            <a:endParaRPr lang="en-US" sz="1600" dirty="0"/>
          </a:p>
        </p:txBody>
      </p:sp>
      <p:sp>
        <p:nvSpPr>
          <p:cNvPr id="15" name="Text 13"/>
          <p:cNvSpPr/>
          <p:nvPr/>
        </p:nvSpPr>
        <p:spPr>
          <a:xfrm>
            <a:off x="4764024"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Trained Classifier</a:t>
            </a:r>
            <a:endParaRPr lang="en-US" sz="1100" dirty="0"/>
          </a:p>
        </p:txBody>
      </p:sp>
      <p:sp>
        <p:nvSpPr>
          <p:cNvPr id="16" name="Shape 14"/>
          <p:cNvSpPr/>
          <p:nvPr/>
        </p:nvSpPr>
        <p:spPr>
          <a:xfrm>
            <a:off x="6611112" y="1993392"/>
            <a:ext cx="228600" cy="54864"/>
          </a:xfrm>
          <a:prstGeom prst="rect">
            <a:avLst/>
          </a:prstGeom>
          <a:solidFill>
            <a:srgbClr val="0A1628"/>
          </a:solidFill>
          <a:ln w="12700">
            <a:solidFill>
              <a:srgbClr val="0A1628"/>
            </a:solidFill>
            <a:prstDash val="solid"/>
          </a:ln>
        </p:spPr>
      </p:sp>
      <p:sp>
        <p:nvSpPr>
          <p:cNvPr id="17" name="Shape 15"/>
          <p:cNvSpPr/>
          <p:nvPr/>
        </p:nvSpPr>
        <p:spPr>
          <a:xfrm>
            <a:off x="6848856" y="1508760"/>
            <a:ext cx="1920240" cy="1188720"/>
          </a:xfrm>
          <a:prstGeom prst="rect">
            <a:avLst/>
          </a:prstGeom>
          <a:solidFill>
            <a:srgbClr val="1A8C5C"/>
          </a:solidFill>
          <a:ln/>
          <a:effectLst>
            <a:outerShdw sx="100000" sy="100000" kx="0" ky="0" algn="bl" rotWithShape="0" blurRad="101600" dist="38100" dir="8100000">
              <a:srgbClr val="000000">
                <a:alpha val="20000"/>
              </a:srgbClr>
            </a:outerShdw>
          </a:effectLst>
        </p:spPr>
      </p:sp>
      <p:sp>
        <p:nvSpPr>
          <p:cNvPr id="18" name="Text 16"/>
          <p:cNvSpPr/>
          <p:nvPr/>
        </p:nvSpPr>
        <p:spPr>
          <a:xfrm>
            <a:off x="6940296"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Prediction</a:t>
            </a:r>
            <a:endParaRPr lang="en-US" sz="1600" dirty="0"/>
          </a:p>
        </p:txBody>
      </p:sp>
      <p:sp>
        <p:nvSpPr>
          <p:cNvPr id="19" name="Text 17"/>
          <p:cNvSpPr/>
          <p:nvPr/>
        </p:nvSpPr>
        <p:spPr>
          <a:xfrm>
            <a:off x="6940296"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Label + Confidence</a:t>
            </a:r>
            <a:endParaRPr lang="en-US" sz="1100" dirty="0"/>
          </a:p>
        </p:txBody>
      </p:sp>
      <p:sp>
        <p:nvSpPr>
          <p:cNvPr id="20" name="Shape 18"/>
          <p:cNvSpPr/>
          <p:nvPr/>
        </p:nvSpPr>
        <p:spPr>
          <a:xfrm>
            <a:off x="320040" y="2926080"/>
            <a:ext cx="8503920" cy="640080"/>
          </a:xfrm>
          <a:prstGeom prst="rect">
            <a:avLst/>
          </a:prstGeom>
          <a:solidFill>
            <a:srgbClr val="0A1628"/>
          </a:solidFill>
          <a:ln w="19050">
            <a:solidFill>
              <a:srgbClr val="0E9AD1"/>
            </a:solidFill>
            <a:prstDash val="solid"/>
          </a:ln>
        </p:spPr>
      </p:sp>
      <p:sp>
        <p:nvSpPr>
          <p:cNvPr id="21" name="Text 19"/>
          <p:cNvSpPr/>
          <p:nvPr/>
        </p:nvSpPr>
        <p:spPr>
          <a:xfrm>
            <a:off x="502920" y="2999232"/>
            <a:ext cx="813816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Interface: Streamlit Web Application — Tabbed UI with single-text &amp; bulk CSV prediction, downloadable results</a:t>
            </a:r>
            <a:endParaRPr lang="en-US" sz="1300" dirty="0"/>
          </a:p>
        </p:txBody>
      </p:sp>
      <p:sp>
        <p:nvSpPr>
          <p:cNvPr id="22" name="Shape 20"/>
          <p:cNvSpPr/>
          <p:nvPr/>
        </p:nvSpPr>
        <p:spPr>
          <a:xfrm>
            <a:off x="320040" y="3794760"/>
            <a:ext cx="2560320" cy="960120"/>
          </a:xfrm>
          <a:prstGeom prst="rect">
            <a:avLst/>
          </a:prstGeom>
          <a:solidFill>
            <a:srgbClr val="EEF4FB"/>
          </a:solidFill>
          <a:ln w="25400">
            <a:solidFill>
              <a:srgbClr val="1B4F8A"/>
            </a:solidFill>
            <a:prstDash val="solid"/>
          </a:ln>
        </p:spPr>
      </p:sp>
      <p:sp>
        <p:nvSpPr>
          <p:cNvPr id="23" name="Shape 21"/>
          <p:cNvSpPr/>
          <p:nvPr/>
        </p:nvSpPr>
        <p:spPr>
          <a:xfrm>
            <a:off x="320040" y="3794760"/>
            <a:ext cx="73152" cy="960120"/>
          </a:xfrm>
          <a:prstGeom prst="rect">
            <a:avLst/>
          </a:prstGeom>
          <a:solidFill>
            <a:srgbClr val="1B4F8A"/>
          </a:solidFill>
          <a:ln w="12700">
            <a:solidFill>
              <a:srgbClr val="1B4F8A"/>
            </a:solidFill>
            <a:prstDash val="solid"/>
          </a:ln>
        </p:spPr>
      </p:sp>
      <p:sp>
        <p:nvSpPr>
          <p:cNvPr id="24" name="Text 22"/>
          <p:cNvSpPr/>
          <p:nvPr/>
        </p:nvSpPr>
        <p:spPr>
          <a:xfrm>
            <a:off x="52120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Language</a:t>
            </a:r>
            <a:endParaRPr lang="en-US" sz="1300" dirty="0"/>
          </a:p>
        </p:txBody>
      </p:sp>
      <p:sp>
        <p:nvSpPr>
          <p:cNvPr id="25" name="Text 23"/>
          <p:cNvSpPr/>
          <p:nvPr/>
        </p:nvSpPr>
        <p:spPr>
          <a:xfrm>
            <a:off x="52120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Python 3.x</a:t>
            </a:r>
            <a:endParaRPr lang="en-US" sz="1200" dirty="0"/>
          </a:p>
        </p:txBody>
      </p:sp>
      <p:sp>
        <p:nvSpPr>
          <p:cNvPr id="26" name="Shape 24"/>
          <p:cNvSpPr/>
          <p:nvPr/>
        </p:nvSpPr>
        <p:spPr>
          <a:xfrm>
            <a:off x="3154680" y="3794760"/>
            <a:ext cx="2560320" cy="960120"/>
          </a:xfrm>
          <a:prstGeom prst="rect">
            <a:avLst/>
          </a:prstGeom>
          <a:solidFill>
            <a:srgbClr val="EEF4FB"/>
          </a:solidFill>
          <a:ln w="25400">
            <a:solidFill>
              <a:srgbClr val="0D7A6B"/>
            </a:solidFill>
            <a:prstDash val="solid"/>
          </a:ln>
        </p:spPr>
      </p:sp>
      <p:sp>
        <p:nvSpPr>
          <p:cNvPr id="27" name="Shape 25"/>
          <p:cNvSpPr/>
          <p:nvPr/>
        </p:nvSpPr>
        <p:spPr>
          <a:xfrm>
            <a:off x="3154680" y="3794760"/>
            <a:ext cx="73152" cy="960120"/>
          </a:xfrm>
          <a:prstGeom prst="rect">
            <a:avLst/>
          </a:prstGeom>
          <a:solidFill>
            <a:srgbClr val="0D7A6B"/>
          </a:solidFill>
          <a:ln w="12700">
            <a:solidFill>
              <a:srgbClr val="0D7A6B"/>
            </a:solidFill>
            <a:prstDash val="solid"/>
          </a:ln>
        </p:spPr>
      </p:sp>
      <p:sp>
        <p:nvSpPr>
          <p:cNvPr id="28" name="Text 26"/>
          <p:cNvSpPr/>
          <p:nvPr/>
        </p:nvSpPr>
        <p:spPr>
          <a:xfrm>
            <a:off x="335584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ML Library</a:t>
            </a:r>
            <a:endParaRPr lang="en-US" sz="1300" dirty="0"/>
          </a:p>
        </p:txBody>
      </p:sp>
      <p:sp>
        <p:nvSpPr>
          <p:cNvPr id="29" name="Text 27"/>
          <p:cNvSpPr/>
          <p:nvPr/>
        </p:nvSpPr>
        <p:spPr>
          <a:xfrm>
            <a:off x="335584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Scikit-learn + TF-IDF</a:t>
            </a:r>
            <a:endParaRPr lang="en-US" sz="1200" dirty="0"/>
          </a:p>
        </p:txBody>
      </p:sp>
      <p:sp>
        <p:nvSpPr>
          <p:cNvPr id="30" name="Shape 28"/>
          <p:cNvSpPr/>
          <p:nvPr/>
        </p:nvSpPr>
        <p:spPr>
          <a:xfrm>
            <a:off x="5989320" y="3794760"/>
            <a:ext cx="2560320" cy="960120"/>
          </a:xfrm>
          <a:prstGeom prst="rect">
            <a:avLst/>
          </a:prstGeom>
          <a:solidFill>
            <a:srgbClr val="EEF4FB"/>
          </a:solidFill>
          <a:ln w="25400">
            <a:solidFill>
              <a:srgbClr val="E8680C"/>
            </a:solidFill>
            <a:prstDash val="solid"/>
          </a:ln>
        </p:spPr>
      </p:sp>
      <p:sp>
        <p:nvSpPr>
          <p:cNvPr id="31" name="Shape 29"/>
          <p:cNvSpPr/>
          <p:nvPr/>
        </p:nvSpPr>
        <p:spPr>
          <a:xfrm>
            <a:off x="5989320" y="3794760"/>
            <a:ext cx="73152" cy="960120"/>
          </a:xfrm>
          <a:prstGeom prst="rect">
            <a:avLst/>
          </a:prstGeom>
          <a:solidFill>
            <a:srgbClr val="E8680C"/>
          </a:solidFill>
          <a:ln w="12700">
            <a:solidFill>
              <a:srgbClr val="E8680C"/>
            </a:solidFill>
            <a:prstDash val="solid"/>
          </a:ln>
        </p:spPr>
      </p:sp>
      <p:sp>
        <p:nvSpPr>
          <p:cNvPr id="32" name="Text 30"/>
          <p:cNvSpPr/>
          <p:nvPr/>
        </p:nvSpPr>
        <p:spPr>
          <a:xfrm>
            <a:off x="619048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Frontend</a:t>
            </a:r>
            <a:endParaRPr lang="en-US" sz="1300" dirty="0"/>
          </a:p>
        </p:txBody>
      </p:sp>
      <p:sp>
        <p:nvSpPr>
          <p:cNvPr id="33" name="Text 31"/>
          <p:cNvSpPr/>
          <p:nvPr/>
        </p:nvSpPr>
        <p:spPr>
          <a:xfrm>
            <a:off x="619048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Streamlit + Pandas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182880"/>
            <a:ext cx="8229600" cy="50292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TECH STACK &amp; TOOLS</a:t>
            </a:r>
            <a:endParaRPr lang="en-US" sz="2400" dirty="0"/>
          </a:p>
        </p:txBody>
      </p:sp>
      <p:sp>
        <p:nvSpPr>
          <p:cNvPr id="3" name="Shape 1"/>
          <p:cNvSpPr/>
          <p:nvPr/>
        </p:nvSpPr>
        <p:spPr>
          <a:xfrm>
            <a:off x="365760" y="704088"/>
            <a:ext cx="2560320" cy="36576"/>
          </a:xfrm>
          <a:prstGeom prst="rect">
            <a:avLst/>
          </a:prstGeom>
          <a:solidFill>
            <a:srgbClr val="E8680C"/>
          </a:solidFill>
          <a:ln w="12700">
            <a:solidFill>
              <a:srgbClr val="E8680C"/>
            </a:solidFill>
            <a:prstDash val="solid"/>
          </a:ln>
        </p:spPr>
      </p:sp>
      <p:sp>
        <p:nvSpPr>
          <p:cNvPr id="4" name="Shape 2"/>
          <p:cNvSpPr/>
          <p:nvPr/>
        </p:nvSpPr>
        <p:spPr>
          <a:xfrm>
            <a:off x="320040" y="960120"/>
            <a:ext cx="4114800" cy="777240"/>
          </a:xfrm>
          <a:prstGeom prst="rect">
            <a:avLst/>
          </a:prstGeom>
          <a:solidFill>
            <a:srgbClr val="132340"/>
          </a:solidFill>
          <a:ln w="19050">
            <a:solidFill>
              <a:srgbClr val="1B4F8A"/>
            </a:solidFill>
            <a:prstDash val="solid"/>
          </a:ln>
        </p:spPr>
      </p:sp>
      <p:sp>
        <p:nvSpPr>
          <p:cNvPr id="5" name="Shape 3"/>
          <p:cNvSpPr/>
          <p:nvPr/>
        </p:nvSpPr>
        <p:spPr>
          <a:xfrm>
            <a:off x="320040" y="960120"/>
            <a:ext cx="64008" cy="777240"/>
          </a:xfrm>
          <a:prstGeom prst="rect">
            <a:avLst/>
          </a:prstGeom>
          <a:solidFill>
            <a:srgbClr val="1B4F8A"/>
          </a:solidFill>
          <a:ln w="12700">
            <a:solidFill>
              <a:srgbClr val="1B4F8A"/>
            </a:solidFill>
            <a:prstDash val="solid"/>
          </a:ln>
        </p:spPr>
      </p:sp>
      <p:sp>
        <p:nvSpPr>
          <p:cNvPr id="6" name="Text 4"/>
          <p:cNvSpPr/>
          <p:nvPr/>
        </p:nvSpPr>
        <p:spPr>
          <a:xfrm>
            <a:off x="521208" y="103327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Python 3.x</a:t>
            </a:r>
            <a:endParaRPr lang="en-US" sz="1400" dirty="0"/>
          </a:p>
        </p:txBody>
      </p:sp>
      <p:sp>
        <p:nvSpPr>
          <p:cNvPr id="7" name="Text 5"/>
          <p:cNvSpPr/>
          <p:nvPr/>
        </p:nvSpPr>
        <p:spPr>
          <a:xfrm>
            <a:off x="521208" y="136245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Core programming language</a:t>
            </a:r>
            <a:endParaRPr lang="en-US" sz="1100" dirty="0"/>
          </a:p>
        </p:txBody>
      </p:sp>
      <p:sp>
        <p:nvSpPr>
          <p:cNvPr id="8" name="Shape 6"/>
          <p:cNvSpPr/>
          <p:nvPr/>
        </p:nvSpPr>
        <p:spPr>
          <a:xfrm>
            <a:off x="320040" y="1965960"/>
            <a:ext cx="4114800" cy="777240"/>
          </a:xfrm>
          <a:prstGeom prst="rect">
            <a:avLst/>
          </a:prstGeom>
          <a:solidFill>
            <a:srgbClr val="132340"/>
          </a:solidFill>
          <a:ln w="19050">
            <a:solidFill>
              <a:srgbClr val="0E9AD1"/>
            </a:solidFill>
            <a:prstDash val="solid"/>
          </a:ln>
        </p:spPr>
      </p:sp>
      <p:sp>
        <p:nvSpPr>
          <p:cNvPr id="9" name="Shape 7"/>
          <p:cNvSpPr/>
          <p:nvPr/>
        </p:nvSpPr>
        <p:spPr>
          <a:xfrm>
            <a:off x="320040" y="1965960"/>
            <a:ext cx="64008" cy="777240"/>
          </a:xfrm>
          <a:prstGeom prst="rect">
            <a:avLst/>
          </a:prstGeom>
          <a:solidFill>
            <a:srgbClr val="0E9AD1"/>
          </a:solidFill>
          <a:ln w="12700">
            <a:solidFill>
              <a:srgbClr val="0E9AD1"/>
            </a:solidFill>
            <a:prstDash val="solid"/>
          </a:ln>
        </p:spPr>
      </p:sp>
      <p:sp>
        <p:nvSpPr>
          <p:cNvPr id="10" name="Text 8"/>
          <p:cNvSpPr/>
          <p:nvPr/>
        </p:nvSpPr>
        <p:spPr>
          <a:xfrm>
            <a:off x="521208" y="203911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Scikit-learn</a:t>
            </a:r>
            <a:endParaRPr lang="en-US" sz="1400" dirty="0"/>
          </a:p>
        </p:txBody>
      </p:sp>
      <p:sp>
        <p:nvSpPr>
          <p:cNvPr id="11" name="Text 9"/>
          <p:cNvSpPr/>
          <p:nvPr/>
        </p:nvSpPr>
        <p:spPr>
          <a:xfrm>
            <a:off x="521208" y="236829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ML algorithms: Naive Bayes, Logistic Regression</a:t>
            </a:r>
            <a:endParaRPr lang="en-US" sz="1100" dirty="0"/>
          </a:p>
        </p:txBody>
      </p:sp>
      <p:sp>
        <p:nvSpPr>
          <p:cNvPr id="12" name="Shape 10"/>
          <p:cNvSpPr/>
          <p:nvPr/>
        </p:nvSpPr>
        <p:spPr>
          <a:xfrm>
            <a:off x="320040" y="2971800"/>
            <a:ext cx="4114800" cy="777240"/>
          </a:xfrm>
          <a:prstGeom prst="rect">
            <a:avLst/>
          </a:prstGeom>
          <a:solidFill>
            <a:srgbClr val="132340"/>
          </a:solidFill>
          <a:ln w="19050">
            <a:solidFill>
              <a:srgbClr val="0D7A6B"/>
            </a:solidFill>
            <a:prstDash val="solid"/>
          </a:ln>
        </p:spPr>
      </p:sp>
      <p:sp>
        <p:nvSpPr>
          <p:cNvPr id="13" name="Shape 11"/>
          <p:cNvSpPr/>
          <p:nvPr/>
        </p:nvSpPr>
        <p:spPr>
          <a:xfrm>
            <a:off x="320040" y="2971800"/>
            <a:ext cx="64008" cy="777240"/>
          </a:xfrm>
          <a:prstGeom prst="rect">
            <a:avLst/>
          </a:prstGeom>
          <a:solidFill>
            <a:srgbClr val="0D7A6B"/>
          </a:solidFill>
          <a:ln w="12700">
            <a:solidFill>
              <a:srgbClr val="0D7A6B"/>
            </a:solidFill>
            <a:prstDash val="solid"/>
          </a:ln>
        </p:spPr>
      </p:sp>
      <p:sp>
        <p:nvSpPr>
          <p:cNvPr id="14" name="Text 12"/>
          <p:cNvSpPr/>
          <p:nvPr/>
        </p:nvSpPr>
        <p:spPr>
          <a:xfrm>
            <a:off x="521208" y="304495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TF-IDF Vectorizer</a:t>
            </a:r>
            <a:endParaRPr lang="en-US" sz="1400" dirty="0"/>
          </a:p>
        </p:txBody>
      </p:sp>
      <p:sp>
        <p:nvSpPr>
          <p:cNvPr id="15" name="Text 13"/>
          <p:cNvSpPr/>
          <p:nvPr/>
        </p:nvSpPr>
        <p:spPr>
          <a:xfrm>
            <a:off x="521208" y="337413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Text → numeric feature conversion</a:t>
            </a:r>
            <a:endParaRPr lang="en-US" sz="1100" dirty="0"/>
          </a:p>
        </p:txBody>
      </p:sp>
      <p:sp>
        <p:nvSpPr>
          <p:cNvPr id="16" name="Shape 14"/>
          <p:cNvSpPr/>
          <p:nvPr/>
        </p:nvSpPr>
        <p:spPr>
          <a:xfrm>
            <a:off x="320040" y="3977640"/>
            <a:ext cx="4114800" cy="777240"/>
          </a:xfrm>
          <a:prstGeom prst="rect">
            <a:avLst/>
          </a:prstGeom>
          <a:solidFill>
            <a:srgbClr val="132340"/>
          </a:solidFill>
          <a:ln w="19050">
            <a:solidFill>
              <a:srgbClr val="E8680C"/>
            </a:solidFill>
            <a:prstDash val="solid"/>
          </a:ln>
        </p:spPr>
      </p:sp>
      <p:sp>
        <p:nvSpPr>
          <p:cNvPr id="17" name="Shape 15"/>
          <p:cNvSpPr/>
          <p:nvPr/>
        </p:nvSpPr>
        <p:spPr>
          <a:xfrm>
            <a:off x="320040" y="3977640"/>
            <a:ext cx="64008" cy="777240"/>
          </a:xfrm>
          <a:prstGeom prst="rect">
            <a:avLst/>
          </a:prstGeom>
          <a:solidFill>
            <a:srgbClr val="E8680C"/>
          </a:solidFill>
          <a:ln w="12700">
            <a:solidFill>
              <a:srgbClr val="E8680C"/>
            </a:solidFill>
            <a:prstDash val="solid"/>
          </a:ln>
        </p:spPr>
      </p:sp>
      <p:sp>
        <p:nvSpPr>
          <p:cNvPr id="18" name="Text 16"/>
          <p:cNvSpPr/>
          <p:nvPr/>
        </p:nvSpPr>
        <p:spPr>
          <a:xfrm>
            <a:off x="521208" y="405079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NLTK / Regex</a:t>
            </a:r>
            <a:endParaRPr lang="en-US" sz="1400" dirty="0"/>
          </a:p>
        </p:txBody>
      </p:sp>
      <p:sp>
        <p:nvSpPr>
          <p:cNvPr id="19" name="Text 17"/>
          <p:cNvSpPr/>
          <p:nvPr/>
        </p:nvSpPr>
        <p:spPr>
          <a:xfrm>
            <a:off x="521208" y="437997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Text cleaning &amp; preprocessing pipeline</a:t>
            </a:r>
            <a:endParaRPr lang="en-US" sz="1100" dirty="0"/>
          </a:p>
        </p:txBody>
      </p:sp>
      <p:sp>
        <p:nvSpPr>
          <p:cNvPr id="20" name="Shape 18"/>
          <p:cNvSpPr/>
          <p:nvPr/>
        </p:nvSpPr>
        <p:spPr>
          <a:xfrm>
            <a:off x="4709160" y="960120"/>
            <a:ext cx="4114800" cy="777240"/>
          </a:xfrm>
          <a:prstGeom prst="rect">
            <a:avLst/>
          </a:prstGeom>
          <a:solidFill>
            <a:srgbClr val="132340"/>
          </a:solidFill>
          <a:ln w="19050">
            <a:solidFill>
              <a:srgbClr val="1A8C5C"/>
            </a:solidFill>
            <a:prstDash val="solid"/>
          </a:ln>
        </p:spPr>
      </p:sp>
      <p:sp>
        <p:nvSpPr>
          <p:cNvPr id="21" name="Shape 19"/>
          <p:cNvSpPr/>
          <p:nvPr/>
        </p:nvSpPr>
        <p:spPr>
          <a:xfrm>
            <a:off x="4709160" y="960120"/>
            <a:ext cx="64008" cy="777240"/>
          </a:xfrm>
          <a:prstGeom prst="rect">
            <a:avLst/>
          </a:prstGeom>
          <a:solidFill>
            <a:srgbClr val="1A8C5C"/>
          </a:solidFill>
          <a:ln w="12700">
            <a:solidFill>
              <a:srgbClr val="1A8C5C"/>
            </a:solidFill>
            <a:prstDash val="solid"/>
          </a:ln>
        </p:spPr>
      </p:sp>
      <p:sp>
        <p:nvSpPr>
          <p:cNvPr id="22" name="Text 20"/>
          <p:cNvSpPr/>
          <p:nvPr/>
        </p:nvSpPr>
        <p:spPr>
          <a:xfrm>
            <a:off x="4910328" y="103327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Joblib</a:t>
            </a:r>
            <a:endParaRPr lang="en-US" sz="1400" dirty="0"/>
          </a:p>
        </p:txBody>
      </p:sp>
      <p:sp>
        <p:nvSpPr>
          <p:cNvPr id="23" name="Text 21"/>
          <p:cNvSpPr/>
          <p:nvPr/>
        </p:nvSpPr>
        <p:spPr>
          <a:xfrm>
            <a:off x="4910328" y="136245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Model serialisation (.pkl files)</a:t>
            </a:r>
            <a:endParaRPr lang="en-US" sz="1100" dirty="0"/>
          </a:p>
        </p:txBody>
      </p:sp>
      <p:sp>
        <p:nvSpPr>
          <p:cNvPr id="24" name="Shape 22"/>
          <p:cNvSpPr/>
          <p:nvPr/>
        </p:nvSpPr>
        <p:spPr>
          <a:xfrm>
            <a:off x="4709160" y="1965960"/>
            <a:ext cx="4114800" cy="777240"/>
          </a:xfrm>
          <a:prstGeom prst="rect">
            <a:avLst/>
          </a:prstGeom>
          <a:solidFill>
            <a:srgbClr val="132340"/>
          </a:solidFill>
          <a:ln w="19050">
            <a:solidFill>
              <a:srgbClr val="C0392B"/>
            </a:solidFill>
            <a:prstDash val="solid"/>
          </a:ln>
        </p:spPr>
      </p:sp>
      <p:sp>
        <p:nvSpPr>
          <p:cNvPr id="25" name="Shape 23"/>
          <p:cNvSpPr/>
          <p:nvPr/>
        </p:nvSpPr>
        <p:spPr>
          <a:xfrm>
            <a:off x="4709160" y="1965960"/>
            <a:ext cx="64008" cy="777240"/>
          </a:xfrm>
          <a:prstGeom prst="rect">
            <a:avLst/>
          </a:prstGeom>
          <a:solidFill>
            <a:srgbClr val="C0392B"/>
          </a:solidFill>
          <a:ln w="12700">
            <a:solidFill>
              <a:srgbClr val="C0392B"/>
            </a:solidFill>
            <a:prstDash val="solid"/>
          </a:ln>
        </p:spPr>
      </p:sp>
      <p:sp>
        <p:nvSpPr>
          <p:cNvPr id="26" name="Text 24"/>
          <p:cNvSpPr/>
          <p:nvPr/>
        </p:nvSpPr>
        <p:spPr>
          <a:xfrm>
            <a:off x="4910328" y="203911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Streamlit</a:t>
            </a:r>
            <a:endParaRPr lang="en-US" sz="1400" dirty="0"/>
          </a:p>
        </p:txBody>
      </p:sp>
      <p:sp>
        <p:nvSpPr>
          <p:cNvPr id="27" name="Text 25"/>
          <p:cNvSpPr/>
          <p:nvPr/>
        </p:nvSpPr>
        <p:spPr>
          <a:xfrm>
            <a:off x="4910328" y="236829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Interactive web UI with tabs &amp; file upload</a:t>
            </a:r>
            <a:endParaRPr lang="en-US" sz="1100" dirty="0"/>
          </a:p>
        </p:txBody>
      </p:sp>
      <p:sp>
        <p:nvSpPr>
          <p:cNvPr id="28" name="Shape 26"/>
          <p:cNvSpPr/>
          <p:nvPr/>
        </p:nvSpPr>
        <p:spPr>
          <a:xfrm>
            <a:off x="4709160" y="2971800"/>
            <a:ext cx="4114800" cy="777240"/>
          </a:xfrm>
          <a:prstGeom prst="rect">
            <a:avLst/>
          </a:prstGeom>
          <a:solidFill>
            <a:srgbClr val="132340"/>
          </a:solidFill>
          <a:ln w="19050">
            <a:solidFill>
              <a:srgbClr val="8A9BB0"/>
            </a:solidFill>
            <a:prstDash val="solid"/>
          </a:ln>
        </p:spPr>
      </p:sp>
      <p:sp>
        <p:nvSpPr>
          <p:cNvPr id="29" name="Shape 27"/>
          <p:cNvSpPr/>
          <p:nvPr/>
        </p:nvSpPr>
        <p:spPr>
          <a:xfrm>
            <a:off x="4709160" y="2971800"/>
            <a:ext cx="64008" cy="777240"/>
          </a:xfrm>
          <a:prstGeom prst="rect">
            <a:avLst/>
          </a:prstGeom>
          <a:solidFill>
            <a:srgbClr val="8A9BB0"/>
          </a:solidFill>
          <a:ln w="12700">
            <a:solidFill>
              <a:srgbClr val="8A9BB0"/>
            </a:solidFill>
            <a:prstDash val="solid"/>
          </a:ln>
        </p:spPr>
      </p:sp>
      <p:sp>
        <p:nvSpPr>
          <p:cNvPr id="30" name="Text 28"/>
          <p:cNvSpPr/>
          <p:nvPr/>
        </p:nvSpPr>
        <p:spPr>
          <a:xfrm>
            <a:off x="4910328" y="304495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Pandas</a:t>
            </a:r>
            <a:endParaRPr lang="en-US" sz="1400" dirty="0"/>
          </a:p>
        </p:txBody>
      </p:sp>
      <p:sp>
        <p:nvSpPr>
          <p:cNvPr id="31" name="Text 29"/>
          <p:cNvSpPr/>
          <p:nvPr/>
        </p:nvSpPr>
        <p:spPr>
          <a:xfrm>
            <a:off x="4910328" y="337413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Bulk CSV handling, dataframes &amp; export</a:t>
            </a:r>
            <a:endParaRPr lang="en-US" sz="1100" dirty="0"/>
          </a:p>
        </p:txBody>
      </p:sp>
      <p:sp>
        <p:nvSpPr>
          <p:cNvPr id="32" name="Shape 30"/>
          <p:cNvSpPr/>
          <p:nvPr/>
        </p:nvSpPr>
        <p:spPr>
          <a:xfrm>
            <a:off x="4709160" y="3977640"/>
            <a:ext cx="4114800" cy="777240"/>
          </a:xfrm>
          <a:prstGeom prst="rect">
            <a:avLst/>
          </a:prstGeom>
          <a:solidFill>
            <a:srgbClr val="132340"/>
          </a:solidFill>
          <a:ln w="19050">
            <a:solidFill>
              <a:srgbClr val="F4C430"/>
            </a:solidFill>
            <a:prstDash val="solid"/>
          </a:ln>
        </p:spPr>
      </p:sp>
      <p:sp>
        <p:nvSpPr>
          <p:cNvPr id="33" name="Shape 31"/>
          <p:cNvSpPr/>
          <p:nvPr/>
        </p:nvSpPr>
        <p:spPr>
          <a:xfrm>
            <a:off x="4709160" y="3977640"/>
            <a:ext cx="64008" cy="777240"/>
          </a:xfrm>
          <a:prstGeom prst="rect">
            <a:avLst/>
          </a:prstGeom>
          <a:solidFill>
            <a:srgbClr val="F4C430"/>
          </a:solidFill>
          <a:ln w="12700">
            <a:solidFill>
              <a:srgbClr val="F4C430"/>
            </a:solidFill>
            <a:prstDash val="solid"/>
          </a:ln>
        </p:spPr>
      </p:sp>
      <p:sp>
        <p:nvSpPr>
          <p:cNvPr id="34" name="Text 32"/>
          <p:cNvSpPr/>
          <p:nvPr/>
        </p:nvSpPr>
        <p:spPr>
          <a:xfrm>
            <a:off x="4910328" y="405079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imbalanced-learn</a:t>
            </a:r>
            <a:endParaRPr lang="en-US" sz="1400" dirty="0"/>
          </a:p>
        </p:txBody>
      </p:sp>
      <p:sp>
        <p:nvSpPr>
          <p:cNvPr id="35" name="Text 33"/>
          <p:cNvSpPr/>
          <p:nvPr/>
        </p:nvSpPr>
        <p:spPr>
          <a:xfrm>
            <a:off x="4910328" y="437997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SMOTE oversampling for class imbalance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libri" pitchFamily="34" charset="0"/>
                <a:ea typeface="Calibri" pitchFamily="34" charset="-122"/>
                <a:cs typeface="Calibri" pitchFamily="34" charset="-120"/>
              </a:rPr>
              <a:t>MODEL 1 — SPAM CLASSIFIER</a:t>
            </a:r>
            <a:endParaRPr lang="en-US" sz="1800" dirty="0"/>
          </a:p>
        </p:txBody>
      </p:sp>
      <p:sp>
        <p:nvSpPr>
          <p:cNvPr id="5" name="Text 2"/>
          <p:cNvSpPr/>
          <p:nvPr/>
        </p:nvSpPr>
        <p:spPr>
          <a:xfrm>
            <a:off x="320040" y="804672"/>
            <a:ext cx="4114800" cy="365760"/>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How It Works</a:t>
            </a:r>
            <a:endParaRPr lang="en-US" sz="1600" dirty="0"/>
          </a:p>
        </p:txBody>
      </p:sp>
      <p:sp>
        <p:nvSpPr>
          <p:cNvPr id="6" name="Shape 3"/>
          <p:cNvSpPr/>
          <p:nvPr/>
        </p:nvSpPr>
        <p:spPr>
          <a:xfrm>
            <a:off x="320040" y="1261872"/>
            <a:ext cx="292608" cy="292608"/>
          </a:xfrm>
          <a:prstGeom prst="ellipse">
            <a:avLst/>
          </a:prstGeom>
          <a:solidFill>
            <a:srgbClr val="C0392B"/>
          </a:solidFill>
          <a:ln w="12700">
            <a:solidFill>
              <a:srgbClr val="C0392B"/>
            </a:solidFill>
            <a:prstDash val="solid"/>
          </a:ln>
        </p:spPr>
      </p:sp>
      <p:sp>
        <p:nvSpPr>
          <p:cNvPr id="7" name="Text 4"/>
          <p:cNvSpPr/>
          <p:nvPr/>
        </p:nvSpPr>
        <p:spPr>
          <a:xfrm>
            <a:off x="320040" y="12618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731520" y="1280160"/>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Raw text input (message or CSV upload)</a:t>
            </a:r>
            <a:endParaRPr lang="en-US" sz="1200" dirty="0"/>
          </a:p>
        </p:txBody>
      </p:sp>
      <p:sp>
        <p:nvSpPr>
          <p:cNvPr id="9" name="Shape 6"/>
          <p:cNvSpPr/>
          <p:nvPr/>
        </p:nvSpPr>
        <p:spPr>
          <a:xfrm>
            <a:off x="320040" y="1920240"/>
            <a:ext cx="292608" cy="292608"/>
          </a:xfrm>
          <a:prstGeom prst="ellipse">
            <a:avLst/>
          </a:prstGeom>
          <a:solidFill>
            <a:srgbClr val="C0392B"/>
          </a:solidFill>
          <a:ln w="12700">
            <a:solidFill>
              <a:srgbClr val="C0392B"/>
            </a:solidFill>
            <a:prstDash val="solid"/>
          </a:ln>
        </p:spPr>
      </p:sp>
      <p:sp>
        <p:nvSpPr>
          <p:cNvPr id="10" name="Text 7"/>
          <p:cNvSpPr/>
          <p:nvPr/>
        </p:nvSpPr>
        <p:spPr>
          <a:xfrm>
            <a:off x="320040"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8"/>
          <p:cNvSpPr/>
          <p:nvPr/>
        </p:nvSpPr>
        <p:spPr>
          <a:xfrm>
            <a:off x="731520" y="1938528"/>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Text cleaning: lowercase, remove punctuation &amp; stopwords</a:t>
            </a:r>
            <a:endParaRPr lang="en-US" sz="1200" dirty="0"/>
          </a:p>
        </p:txBody>
      </p:sp>
      <p:sp>
        <p:nvSpPr>
          <p:cNvPr id="12" name="Shape 9"/>
          <p:cNvSpPr/>
          <p:nvPr/>
        </p:nvSpPr>
        <p:spPr>
          <a:xfrm>
            <a:off x="320040" y="2578608"/>
            <a:ext cx="292608" cy="292608"/>
          </a:xfrm>
          <a:prstGeom prst="ellipse">
            <a:avLst/>
          </a:prstGeom>
          <a:solidFill>
            <a:srgbClr val="C0392B"/>
          </a:solidFill>
          <a:ln w="12700">
            <a:solidFill>
              <a:srgbClr val="C0392B"/>
            </a:solidFill>
            <a:prstDash val="solid"/>
          </a:ln>
        </p:spPr>
      </p:sp>
      <p:sp>
        <p:nvSpPr>
          <p:cNvPr id="13" name="Text 10"/>
          <p:cNvSpPr/>
          <p:nvPr/>
        </p:nvSpPr>
        <p:spPr>
          <a:xfrm>
            <a:off x="320040" y="2578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p:nvPr/>
        </p:nvSpPr>
        <p:spPr>
          <a:xfrm>
            <a:off x="731520" y="2596896"/>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TF-IDF transforms text into numeric feature vectors</a:t>
            </a:r>
            <a:endParaRPr lang="en-US" sz="1200" dirty="0"/>
          </a:p>
        </p:txBody>
      </p:sp>
      <p:sp>
        <p:nvSpPr>
          <p:cNvPr id="15" name="Shape 12"/>
          <p:cNvSpPr/>
          <p:nvPr/>
        </p:nvSpPr>
        <p:spPr>
          <a:xfrm>
            <a:off x="320040" y="3236976"/>
            <a:ext cx="292608" cy="292608"/>
          </a:xfrm>
          <a:prstGeom prst="ellipse">
            <a:avLst/>
          </a:prstGeom>
          <a:solidFill>
            <a:srgbClr val="C0392B"/>
          </a:solidFill>
          <a:ln w="12700">
            <a:solidFill>
              <a:srgbClr val="C0392B"/>
            </a:solidFill>
            <a:prstDash val="solid"/>
          </a:ln>
        </p:spPr>
      </p:sp>
      <p:sp>
        <p:nvSpPr>
          <p:cNvPr id="16" name="Text 13"/>
          <p:cNvSpPr/>
          <p:nvPr/>
        </p:nvSpPr>
        <p:spPr>
          <a:xfrm>
            <a:off x="320040" y="32369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4"/>
          <p:cNvSpPr/>
          <p:nvPr/>
        </p:nvSpPr>
        <p:spPr>
          <a:xfrm>
            <a:off x="731520" y="3255264"/>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Trained classifier predicts: Spam (0) or Not Spam (1)</a:t>
            </a:r>
            <a:endParaRPr lang="en-US" sz="1200" dirty="0"/>
          </a:p>
        </p:txBody>
      </p:sp>
      <p:sp>
        <p:nvSpPr>
          <p:cNvPr id="18" name="Shape 15"/>
          <p:cNvSpPr/>
          <p:nvPr/>
        </p:nvSpPr>
        <p:spPr>
          <a:xfrm>
            <a:off x="320040" y="3895344"/>
            <a:ext cx="292608" cy="292608"/>
          </a:xfrm>
          <a:prstGeom prst="ellipse">
            <a:avLst/>
          </a:prstGeom>
          <a:solidFill>
            <a:srgbClr val="C0392B"/>
          </a:solidFill>
          <a:ln w="12700">
            <a:solidFill>
              <a:srgbClr val="C0392B"/>
            </a:solidFill>
            <a:prstDash val="solid"/>
          </a:ln>
        </p:spPr>
      </p:sp>
      <p:sp>
        <p:nvSpPr>
          <p:cNvPr id="19" name="Text 16"/>
          <p:cNvSpPr/>
          <p:nvPr/>
        </p:nvSpPr>
        <p:spPr>
          <a:xfrm>
            <a:off x="320040" y="3895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p:nvPr/>
        </p:nvSpPr>
        <p:spPr>
          <a:xfrm>
            <a:off x="731520" y="3913632"/>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Result displayed with colour-coded label + bulk summary stats</a:t>
            </a:r>
            <a:endParaRPr lang="en-US" sz="1200" dirty="0"/>
          </a:p>
        </p:txBody>
      </p:sp>
      <p:sp>
        <p:nvSpPr>
          <p:cNvPr id="21" name="Shape 18"/>
          <p:cNvSpPr/>
          <p:nvPr/>
        </p:nvSpPr>
        <p:spPr>
          <a:xfrm>
            <a:off x="4754880" y="804672"/>
            <a:ext cx="4114800" cy="1874520"/>
          </a:xfrm>
          <a:prstGeom prst="rect">
            <a:avLst/>
          </a:prstGeom>
          <a:solidFill>
            <a:srgbClr val="0A1628"/>
          </a:solidFill>
          <a:ln w="12700">
            <a:solidFill>
              <a:srgbClr val="0A1628"/>
            </a:solidFill>
            <a:prstDash val="solid"/>
          </a:ln>
        </p:spPr>
      </p:sp>
      <p:sp>
        <p:nvSpPr>
          <p:cNvPr id="22" name="Text 19"/>
          <p:cNvSpPr/>
          <p:nvPr/>
        </p:nvSpPr>
        <p:spPr>
          <a:xfrm>
            <a:off x="4937760" y="877824"/>
            <a:ext cx="3749040" cy="347472"/>
          </a:xfrm>
          <a:prstGeom prst="rect">
            <a:avLst/>
          </a:prstGeom>
          <a:noFill/>
          <a:ln/>
        </p:spPr>
        <p:txBody>
          <a:bodyPr wrap="square" lIns="0" tIns="0" rIns="0" bIns="0" rtlCol="0" anchor="ctr"/>
          <a:lstStyle/>
          <a:p>
            <a:pPr indent="0" marL="0">
              <a:buNone/>
            </a:pPr>
            <a:r>
              <a:rPr lang="en-US" sz="1400" b="1" dirty="0">
                <a:solidFill>
                  <a:srgbClr val="0E9AD1"/>
                </a:solidFill>
                <a:latin typeface="Calibri" pitchFamily="34" charset="0"/>
                <a:ea typeface="Calibri" pitchFamily="34" charset="-122"/>
                <a:cs typeface="Calibri" pitchFamily="34" charset="-120"/>
              </a:rPr>
              <a:t>Model Details</a:t>
            </a:r>
            <a:endParaRPr lang="en-US" sz="1400" dirty="0"/>
          </a:p>
        </p:txBody>
      </p:sp>
      <p:sp>
        <p:nvSpPr>
          <p:cNvPr id="23" name="Text 20"/>
          <p:cNvSpPr/>
          <p:nvPr/>
        </p:nvSpPr>
        <p:spPr>
          <a:xfrm>
            <a:off x="4937760" y="132588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Algorithm:</a:t>
            </a:r>
            <a:endParaRPr lang="en-US" sz="1100" dirty="0"/>
          </a:p>
        </p:txBody>
      </p:sp>
      <p:sp>
        <p:nvSpPr>
          <p:cNvPr id="24" name="Text 21"/>
          <p:cNvSpPr/>
          <p:nvPr/>
        </p:nvSpPr>
        <p:spPr>
          <a:xfrm>
            <a:off x="6355080" y="132588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Multinomial Naive Bayes</a:t>
            </a:r>
            <a:endParaRPr lang="en-US" sz="1100" dirty="0"/>
          </a:p>
        </p:txBody>
      </p:sp>
      <p:sp>
        <p:nvSpPr>
          <p:cNvPr id="25" name="Text 22"/>
          <p:cNvSpPr/>
          <p:nvPr/>
        </p:nvSpPr>
        <p:spPr>
          <a:xfrm>
            <a:off x="4937760" y="164592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Features:</a:t>
            </a:r>
            <a:endParaRPr lang="en-US" sz="1100" dirty="0"/>
          </a:p>
        </p:txBody>
      </p:sp>
      <p:sp>
        <p:nvSpPr>
          <p:cNvPr id="26" name="Text 23"/>
          <p:cNvSpPr/>
          <p:nvPr/>
        </p:nvSpPr>
        <p:spPr>
          <a:xfrm>
            <a:off x="6355080" y="164592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TF-IDF (bag of words)</a:t>
            </a:r>
            <a:endParaRPr lang="en-US" sz="1100" dirty="0"/>
          </a:p>
        </p:txBody>
      </p:sp>
      <p:sp>
        <p:nvSpPr>
          <p:cNvPr id="27" name="Text 24"/>
          <p:cNvSpPr/>
          <p:nvPr/>
        </p:nvSpPr>
        <p:spPr>
          <a:xfrm>
            <a:off x="4937760" y="196596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Classes:</a:t>
            </a:r>
            <a:endParaRPr lang="en-US" sz="1100" dirty="0"/>
          </a:p>
        </p:txBody>
      </p:sp>
      <p:sp>
        <p:nvSpPr>
          <p:cNvPr id="28" name="Text 25"/>
          <p:cNvSpPr/>
          <p:nvPr/>
        </p:nvSpPr>
        <p:spPr>
          <a:xfrm>
            <a:off x="6355080" y="196596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 = Spam  |  1 = Not Spam</a:t>
            </a:r>
            <a:endParaRPr lang="en-US" sz="1100" dirty="0"/>
          </a:p>
        </p:txBody>
      </p:sp>
      <p:sp>
        <p:nvSpPr>
          <p:cNvPr id="29" name="Text 26"/>
          <p:cNvSpPr/>
          <p:nvPr/>
        </p:nvSpPr>
        <p:spPr>
          <a:xfrm>
            <a:off x="4937760" y="228600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Resampling:</a:t>
            </a:r>
            <a:endParaRPr lang="en-US" sz="1100" dirty="0"/>
          </a:p>
        </p:txBody>
      </p:sp>
      <p:sp>
        <p:nvSpPr>
          <p:cNvPr id="30" name="Text 27"/>
          <p:cNvSpPr/>
          <p:nvPr/>
        </p:nvSpPr>
        <p:spPr>
          <a:xfrm>
            <a:off x="6355080" y="228600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SMOTE (imbalanced-learn)</a:t>
            </a:r>
            <a:endParaRPr lang="en-US" sz="1100" dirty="0"/>
          </a:p>
        </p:txBody>
      </p:sp>
      <p:sp>
        <p:nvSpPr>
          <p:cNvPr id="31" name="Text 28"/>
          <p:cNvSpPr/>
          <p:nvPr/>
        </p:nvSpPr>
        <p:spPr>
          <a:xfrm>
            <a:off x="4754880" y="2834640"/>
            <a:ext cx="4114800" cy="347472"/>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Sample Predictions</a:t>
            </a:r>
            <a:endParaRPr lang="en-US" sz="1400" dirty="0"/>
          </a:p>
        </p:txBody>
      </p:sp>
      <p:sp>
        <p:nvSpPr>
          <p:cNvPr id="32" name="Shape 29"/>
          <p:cNvSpPr/>
          <p:nvPr/>
        </p:nvSpPr>
        <p:spPr>
          <a:xfrm>
            <a:off x="4754880" y="3291840"/>
            <a:ext cx="4114800" cy="475488"/>
          </a:xfrm>
          <a:prstGeom prst="rect">
            <a:avLst/>
          </a:prstGeom>
          <a:solidFill>
            <a:srgbClr val="EEF4FB"/>
          </a:solidFill>
          <a:ln w="19050">
            <a:solidFill>
              <a:srgbClr val="C0392B"/>
            </a:solidFill>
            <a:prstDash val="solid"/>
          </a:ln>
        </p:spPr>
      </p:sp>
      <p:sp>
        <p:nvSpPr>
          <p:cNvPr id="33" name="Text 30"/>
          <p:cNvSpPr/>
          <p:nvPr/>
        </p:nvSpPr>
        <p:spPr>
          <a:xfrm>
            <a:off x="4892040" y="3337560"/>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"Win a FREE iPhone! Click now"</a:t>
            </a:r>
            <a:endParaRPr lang="en-US" sz="1100" dirty="0"/>
          </a:p>
        </p:txBody>
      </p:sp>
      <p:sp>
        <p:nvSpPr>
          <p:cNvPr id="34" name="Text 31"/>
          <p:cNvSpPr/>
          <p:nvPr/>
        </p:nvSpPr>
        <p:spPr>
          <a:xfrm>
            <a:off x="7589520" y="3337560"/>
            <a:ext cx="1188720" cy="384048"/>
          </a:xfrm>
          <a:prstGeom prst="rect">
            <a:avLst/>
          </a:prstGeom>
          <a:noFill/>
          <a:ln/>
        </p:spPr>
        <p:txBody>
          <a:bodyPr wrap="square" lIns="0" tIns="0" rIns="0" bIns="0"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 SPAM</a:t>
            </a:r>
            <a:endParaRPr lang="en-US" sz="1100" dirty="0"/>
          </a:p>
        </p:txBody>
      </p:sp>
      <p:sp>
        <p:nvSpPr>
          <p:cNvPr id="35" name="Shape 32"/>
          <p:cNvSpPr/>
          <p:nvPr/>
        </p:nvSpPr>
        <p:spPr>
          <a:xfrm>
            <a:off x="4754880" y="3858768"/>
            <a:ext cx="4114800" cy="475488"/>
          </a:xfrm>
          <a:prstGeom prst="rect">
            <a:avLst/>
          </a:prstGeom>
          <a:solidFill>
            <a:srgbClr val="EEF4FB"/>
          </a:solidFill>
          <a:ln w="19050">
            <a:solidFill>
              <a:srgbClr val="1A8C5C"/>
            </a:solidFill>
            <a:prstDash val="solid"/>
          </a:ln>
        </p:spPr>
      </p:sp>
      <p:sp>
        <p:nvSpPr>
          <p:cNvPr id="36" name="Text 33"/>
          <p:cNvSpPr/>
          <p:nvPr/>
        </p:nvSpPr>
        <p:spPr>
          <a:xfrm>
            <a:off x="4892040" y="3904488"/>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"Can we meet tomorrow at 3pm?"</a:t>
            </a:r>
            <a:endParaRPr lang="en-US" sz="1100" dirty="0"/>
          </a:p>
        </p:txBody>
      </p:sp>
      <p:sp>
        <p:nvSpPr>
          <p:cNvPr id="37" name="Text 34"/>
          <p:cNvSpPr/>
          <p:nvPr/>
        </p:nvSpPr>
        <p:spPr>
          <a:xfrm>
            <a:off x="7589520" y="3904488"/>
            <a:ext cx="1188720" cy="384048"/>
          </a:xfrm>
          <a:prstGeom prst="rect">
            <a:avLst/>
          </a:prstGeom>
          <a:noFill/>
          <a:ln/>
        </p:spPr>
        <p:txBody>
          <a:bodyPr wrap="square" lIns="0" tIns="0" rIns="0" bIns="0" rtlCol="0" anchor="ctr"/>
          <a:lstStyle/>
          <a:p>
            <a:pPr algn="r" indent="0" marL="0">
              <a:buNone/>
            </a:pPr>
            <a:r>
              <a:rPr lang="en-US" sz="1100" b="1" dirty="0">
                <a:solidFill>
                  <a:srgbClr val="1A8C5C"/>
                </a:solidFill>
                <a:latin typeface="Calibri" pitchFamily="34" charset="0"/>
                <a:ea typeface="Calibri" pitchFamily="34" charset="-122"/>
                <a:cs typeface="Calibri" pitchFamily="34" charset="-120"/>
              </a:rPr>
              <a:t>✅ NOT SPAM</a:t>
            </a:r>
            <a:endParaRPr lang="en-US" sz="1100" dirty="0"/>
          </a:p>
        </p:txBody>
      </p:sp>
      <p:sp>
        <p:nvSpPr>
          <p:cNvPr id="38" name="Shape 35"/>
          <p:cNvSpPr/>
          <p:nvPr/>
        </p:nvSpPr>
        <p:spPr>
          <a:xfrm>
            <a:off x="4754880" y="4425696"/>
            <a:ext cx="4114800" cy="475488"/>
          </a:xfrm>
          <a:prstGeom prst="rect">
            <a:avLst/>
          </a:prstGeom>
          <a:solidFill>
            <a:srgbClr val="EEF4FB"/>
          </a:solidFill>
          <a:ln w="19050">
            <a:solidFill>
              <a:srgbClr val="C0392B"/>
            </a:solidFill>
            <a:prstDash val="solid"/>
          </a:ln>
        </p:spPr>
      </p:sp>
      <p:sp>
        <p:nvSpPr>
          <p:cNvPr id="39" name="Text 36"/>
          <p:cNvSpPr/>
          <p:nvPr/>
        </p:nvSpPr>
        <p:spPr>
          <a:xfrm>
            <a:off x="4892040" y="4471416"/>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"Claim your lottery prize today"</a:t>
            </a:r>
            <a:endParaRPr lang="en-US" sz="1100" dirty="0"/>
          </a:p>
        </p:txBody>
      </p:sp>
      <p:sp>
        <p:nvSpPr>
          <p:cNvPr id="40" name="Text 37"/>
          <p:cNvSpPr/>
          <p:nvPr/>
        </p:nvSpPr>
        <p:spPr>
          <a:xfrm>
            <a:off x="7589520" y="4471416"/>
            <a:ext cx="1188720" cy="384048"/>
          </a:xfrm>
          <a:prstGeom prst="rect">
            <a:avLst/>
          </a:prstGeom>
          <a:noFill/>
          <a:ln/>
        </p:spPr>
        <p:txBody>
          <a:bodyPr wrap="square" lIns="0" tIns="0" rIns="0" bIns="0"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 SPAM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9AD1"/>
          </a:solidFill>
          <a:ln w="12700">
            <a:solidFill>
              <a:srgbClr val="0E9AD1"/>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0A1628"/>
                </a:solidFill>
                <a:latin typeface="Calibri" pitchFamily="34" charset="0"/>
                <a:ea typeface="Calibri" pitchFamily="34" charset="-122"/>
                <a:cs typeface="Calibri" pitchFamily="34" charset="-120"/>
              </a:rPr>
              <a:t>MODEL 2 — LANGUAGE DETECTION</a:t>
            </a:r>
            <a:endParaRPr lang="en-US" sz="1800" dirty="0"/>
          </a:p>
        </p:txBody>
      </p:sp>
      <p:sp>
        <p:nvSpPr>
          <p:cNvPr id="5" name="Text 2"/>
          <p:cNvSpPr/>
          <p:nvPr/>
        </p:nvSpPr>
        <p:spPr>
          <a:xfrm>
            <a:off x="320040" y="777240"/>
            <a:ext cx="5029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Supports 17 Languages</a:t>
            </a:r>
            <a:endParaRPr lang="en-US" sz="1600" dirty="0"/>
          </a:p>
        </p:txBody>
      </p:sp>
      <p:sp>
        <p:nvSpPr>
          <p:cNvPr id="6" name="Shape 3"/>
          <p:cNvSpPr/>
          <p:nvPr/>
        </p:nvSpPr>
        <p:spPr>
          <a:xfrm>
            <a:off x="320040" y="1298448"/>
            <a:ext cx="1389888" cy="420624"/>
          </a:xfrm>
          <a:prstGeom prst="rect">
            <a:avLst/>
          </a:prstGeom>
          <a:solidFill>
            <a:srgbClr val="1B4F8A">
              <a:alpha val="25000"/>
            </a:srgbClr>
          </a:solidFill>
          <a:ln w="19050">
            <a:solidFill>
              <a:srgbClr val="1B4F8A"/>
            </a:solidFill>
            <a:prstDash val="solid"/>
          </a:ln>
        </p:spPr>
      </p:sp>
      <p:sp>
        <p:nvSpPr>
          <p:cNvPr id="7" name="Text 4"/>
          <p:cNvSpPr/>
          <p:nvPr/>
        </p:nvSpPr>
        <p:spPr>
          <a:xfrm>
            <a:off x="365760"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English</a:t>
            </a:r>
            <a:endParaRPr lang="en-US" sz="1100" dirty="0"/>
          </a:p>
        </p:txBody>
      </p:sp>
      <p:sp>
        <p:nvSpPr>
          <p:cNvPr id="8" name="Shape 5"/>
          <p:cNvSpPr/>
          <p:nvPr/>
        </p:nvSpPr>
        <p:spPr>
          <a:xfrm>
            <a:off x="320040" y="1865376"/>
            <a:ext cx="1389888" cy="420624"/>
          </a:xfrm>
          <a:prstGeom prst="rect">
            <a:avLst/>
          </a:prstGeom>
          <a:solidFill>
            <a:srgbClr val="E8680C">
              <a:alpha val="25000"/>
            </a:srgbClr>
          </a:solidFill>
          <a:ln w="19050">
            <a:solidFill>
              <a:srgbClr val="E8680C"/>
            </a:solidFill>
            <a:prstDash val="solid"/>
          </a:ln>
        </p:spPr>
      </p:sp>
      <p:sp>
        <p:nvSpPr>
          <p:cNvPr id="9" name="Text 6"/>
          <p:cNvSpPr/>
          <p:nvPr/>
        </p:nvSpPr>
        <p:spPr>
          <a:xfrm>
            <a:off x="365760"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Hindi</a:t>
            </a:r>
            <a:endParaRPr lang="en-US" sz="1100" dirty="0"/>
          </a:p>
        </p:txBody>
      </p:sp>
      <p:sp>
        <p:nvSpPr>
          <p:cNvPr id="10" name="Shape 7"/>
          <p:cNvSpPr/>
          <p:nvPr/>
        </p:nvSpPr>
        <p:spPr>
          <a:xfrm>
            <a:off x="320040" y="2432304"/>
            <a:ext cx="1389888" cy="420624"/>
          </a:xfrm>
          <a:prstGeom prst="rect">
            <a:avLst/>
          </a:prstGeom>
          <a:solidFill>
            <a:srgbClr val="1B4F8A">
              <a:alpha val="25000"/>
            </a:srgbClr>
          </a:solidFill>
          <a:ln w="19050">
            <a:solidFill>
              <a:srgbClr val="1B4F8A"/>
            </a:solidFill>
            <a:prstDash val="solid"/>
          </a:ln>
        </p:spPr>
      </p:sp>
      <p:sp>
        <p:nvSpPr>
          <p:cNvPr id="11" name="Text 8"/>
          <p:cNvSpPr/>
          <p:nvPr/>
        </p:nvSpPr>
        <p:spPr>
          <a:xfrm>
            <a:off x="365760"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French</a:t>
            </a:r>
            <a:endParaRPr lang="en-US" sz="1100" dirty="0"/>
          </a:p>
        </p:txBody>
      </p:sp>
      <p:sp>
        <p:nvSpPr>
          <p:cNvPr id="12" name="Shape 9"/>
          <p:cNvSpPr/>
          <p:nvPr/>
        </p:nvSpPr>
        <p:spPr>
          <a:xfrm>
            <a:off x="320040" y="2999232"/>
            <a:ext cx="1389888" cy="420624"/>
          </a:xfrm>
          <a:prstGeom prst="rect">
            <a:avLst/>
          </a:prstGeom>
          <a:solidFill>
            <a:srgbClr val="0D7A6B">
              <a:alpha val="25000"/>
            </a:srgbClr>
          </a:solidFill>
          <a:ln w="19050">
            <a:solidFill>
              <a:srgbClr val="0D7A6B"/>
            </a:solidFill>
            <a:prstDash val="solid"/>
          </a:ln>
        </p:spPr>
      </p:sp>
      <p:sp>
        <p:nvSpPr>
          <p:cNvPr id="13" name="Text 10"/>
          <p:cNvSpPr/>
          <p:nvPr/>
        </p:nvSpPr>
        <p:spPr>
          <a:xfrm>
            <a:off x="365760"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Spanish</a:t>
            </a:r>
            <a:endParaRPr lang="en-US" sz="1100" dirty="0"/>
          </a:p>
        </p:txBody>
      </p:sp>
      <p:sp>
        <p:nvSpPr>
          <p:cNvPr id="14" name="Shape 11"/>
          <p:cNvSpPr/>
          <p:nvPr/>
        </p:nvSpPr>
        <p:spPr>
          <a:xfrm>
            <a:off x="320040" y="3566160"/>
            <a:ext cx="1389888" cy="420624"/>
          </a:xfrm>
          <a:prstGeom prst="rect">
            <a:avLst/>
          </a:prstGeom>
          <a:solidFill>
            <a:srgbClr val="1B4F8A">
              <a:alpha val="25000"/>
            </a:srgbClr>
          </a:solidFill>
          <a:ln w="19050">
            <a:solidFill>
              <a:srgbClr val="1B4F8A"/>
            </a:solidFill>
            <a:prstDash val="solid"/>
          </a:ln>
        </p:spPr>
      </p:sp>
      <p:sp>
        <p:nvSpPr>
          <p:cNvPr id="15" name="Text 12"/>
          <p:cNvSpPr/>
          <p:nvPr/>
        </p:nvSpPr>
        <p:spPr>
          <a:xfrm>
            <a:off x="365760"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German</a:t>
            </a:r>
            <a:endParaRPr lang="en-US" sz="1100" dirty="0"/>
          </a:p>
        </p:txBody>
      </p:sp>
      <p:sp>
        <p:nvSpPr>
          <p:cNvPr id="16" name="Shape 13"/>
          <p:cNvSpPr/>
          <p:nvPr/>
        </p:nvSpPr>
        <p:spPr>
          <a:xfrm>
            <a:off x="320040" y="4133088"/>
            <a:ext cx="1389888" cy="420624"/>
          </a:xfrm>
          <a:prstGeom prst="rect">
            <a:avLst/>
          </a:prstGeom>
          <a:solidFill>
            <a:srgbClr val="0D7A6B">
              <a:alpha val="25000"/>
            </a:srgbClr>
          </a:solidFill>
          <a:ln w="19050">
            <a:solidFill>
              <a:srgbClr val="0D7A6B"/>
            </a:solidFill>
            <a:prstDash val="solid"/>
          </a:ln>
        </p:spPr>
      </p:sp>
      <p:sp>
        <p:nvSpPr>
          <p:cNvPr id="17" name="Text 14"/>
          <p:cNvSpPr/>
          <p:nvPr/>
        </p:nvSpPr>
        <p:spPr>
          <a:xfrm>
            <a:off x="365760" y="416966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Italian</a:t>
            </a:r>
            <a:endParaRPr lang="en-US" sz="1100" dirty="0"/>
          </a:p>
        </p:txBody>
      </p:sp>
      <p:sp>
        <p:nvSpPr>
          <p:cNvPr id="18" name="Shape 15"/>
          <p:cNvSpPr/>
          <p:nvPr/>
        </p:nvSpPr>
        <p:spPr>
          <a:xfrm>
            <a:off x="1892808" y="1298448"/>
            <a:ext cx="1389888" cy="420624"/>
          </a:xfrm>
          <a:prstGeom prst="rect">
            <a:avLst/>
          </a:prstGeom>
          <a:solidFill>
            <a:srgbClr val="E8680C">
              <a:alpha val="25000"/>
            </a:srgbClr>
          </a:solidFill>
          <a:ln w="19050">
            <a:solidFill>
              <a:srgbClr val="E8680C"/>
            </a:solidFill>
            <a:prstDash val="solid"/>
          </a:ln>
        </p:spPr>
      </p:sp>
      <p:sp>
        <p:nvSpPr>
          <p:cNvPr id="19" name="Text 16"/>
          <p:cNvSpPr/>
          <p:nvPr/>
        </p:nvSpPr>
        <p:spPr>
          <a:xfrm>
            <a:off x="1938528"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Arabic</a:t>
            </a:r>
            <a:endParaRPr lang="en-US" sz="1100" dirty="0"/>
          </a:p>
        </p:txBody>
      </p:sp>
      <p:sp>
        <p:nvSpPr>
          <p:cNvPr id="20" name="Shape 17"/>
          <p:cNvSpPr/>
          <p:nvPr/>
        </p:nvSpPr>
        <p:spPr>
          <a:xfrm>
            <a:off x="1892808" y="1865376"/>
            <a:ext cx="1389888" cy="420624"/>
          </a:xfrm>
          <a:prstGeom prst="rect">
            <a:avLst/>
          </a:prstGeom>
          <a:solidFill>
            <a:srgbClr val="C0392B">
              <a:alpha val="25000"/>
            </a:srgbClr>
          </a:solidFill>
          <a:ln w="19050">
            <a:solidFill>
              <a:srgbClr val="C0392B"/>
            </a:solidFill>
            <a:prstDash val="solid"/>
          </a:ln>
        </p:spPr>
      </p:sp>
      <p:sp>
        <p:nvSpPr>
          <p:cNvPr id="21" name="Text 18"/>
          <p:cNvSpPr/>
          <p:nvPr/>
        </p:nvSpPr>
        <p:spPr>
          <a:xfrm>
            <a:off x="1938528"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Russian</a:t>
            </a:r>
            <a:endParaRPr lang="en-US" sz="1100" dirty="0"/>
          </a:p>
        </p:txBody>
      </p:sp>
      <p:sp>
        <p:nvSpPr>
          <p:cNvPr id="22" name="Shape 19"/>
          <p:cNvSpPr/>
          <p:nvPr/>
        </p:nvSpPr>
        <p:spPr>
          <a:xfrm>
            <a:off x="1892808" y="2432304"/>
            <a:ext cx="1389888" cy="420624"/>
          </a:xfrm>
          <a:prstGeom prst="rect">
            <a:avLst/>
          </a:prstGeom>
          <a:solidFill>
            <a:srgbClr val="0E9AD1">
              <a:alpha val="25000"/>
            </a:srgbClr>
          </a:solidFill>
          <a:ln w="19050">
            <a:solidFill>
              <a:srgbClr val="0E9AD1"/>
            </a:solidFill>
            <a:prstDash val="solid"/>
          </a:ln>
        </p:spPr>
      </p:sp>
      <p:sp>
        <p:nvSpPr>
          <p:cNvPr id="23" name="Text 20"/>
          <p:cNvSpPr/>
          <p:nvPr/>
        </p:nvSpPr>
        <p:spPr>
          <a:xfrm>
            <a:off x="1938528"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Greek</a:t>
            </a:r>
            <a:endParaRPr lang="en-US" sz="1100" dirty="0"/>
          </a:p>
        </p:txBody>
      </p:sp>
      <p:sp>
        <p:nvSpPr>
          <p:cNvPr id="24" name="Shape 21"/>
          <p:cNvSpPr/>
          <p:nvPr/>
        </p:nvSpPr>
        <p:spPr>
          <a:xfrm>
            <a:off x="1892808" y="2999232"/>
            <a:ext cx="1389888" cy="420624"/>
          </a:xfrm>
          <a:prstGeom prst="rect">
            <a:avLst/>
          </a:prstGeom>
          <a:solidFill>
            <a:srgbClr val="E8680C">
              <a:alpha val="25000"/>
            </a:srgbClr>
          </a:solidFill>
          <a:ln w="19050">
            <a:solidFill>
              <a:srgbClr val="E8680C"/>
            </a:solidFill>
            <a:prstDash val="solid"/>
          </a:ln>
        </p:spPr>
      </p:sp>
      <p:sp>
        <p:nvSpPr>
          <p:cNvPr id="25" name="Text 22"/>
          <p:cNvSpPr/>
          <p:nvPr/>
        </p:nvSpPr>
        <p:spPr>
          <a:xfrm>
            <a:off x="1938528"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Tamil</a:t>
            </a:r>
            <a:endParaRPr lang="en-US" sz="1100" dirty="0"/>
          </a:p>
        </p:txBody>
      </p:sp>
      <p:sp>
        <p:nvSpPr>
          <p:cNvPr id="26" name="Shape 23"/>
          <p:cNvSpPr/>
          <p:nvPr/>
        </p:nvSpPr>
        <p:spPr>
          <a:xfrm>
            <a:off x="1892808" y="3566160"/>
            <a:ext cx="1389888" cy="420624"/>
          </a:xfrm>
          <a:prstGeom prst="rect">
            <a:avLst/>
          </a:prstGeom>
          <a:solidFill>
            <a:srgbClr val="E8680C">
              <a:alpha val="25000"/>
            </a:srgbClr>
          </a:solidFill>
          <a:ln w="19050">
            <a:solidFill>
              <a:srgbClr val="E8680C"/>
            </a:solidFill>
            <a:prstDash val="solid"/>
          </a:ln>
        </p:spPr>
      </p:sp>
      <p:sp>
        <p:nvSpPr>
          <p:cNvPr id="27" name="Text 24"/>
          <p:cNvSpPr/>
          <p:nvPr/>
        </p:nvSpPr>
        <p:spPr>
          <a:xfrm>
            <a:off x="1938528"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Malayalam</a:t>
            </a:r>
            <a:endParaRPr lang="en-US" sz="1100" dirty="0"/>
          </a:p>
        </p:txBody>
      </p:sp>
      <p:sp>
        <p:nvSpPr>
          <p:cNvPr id="28" name="Shape 25"/>
          <p:cNvSpPr/>
          <p:nvPr/>
        </p:nvSpPr>
        <p:spPr>
          <a:xfrm>
            <a:off x="1892808" y="4133088"/>
            <a:ext cx="1389888" cy="420624"/>
          </a:xfrm>
          <a:prstGeom prst="rect">
            <a:avLst/>
          </a:prstGeom>
          <a:solidFill>
            <a:srgbClr val="E8680C">
              <a:alpha val="25000"/>
            </a:srgbClr>
          </a:solidFill>
          <a:ln w="19050">
            <a:solidFill>
              <a:srgbClr val="E8680C"/>
            </a:solidFill>
            <a:prstDash val="solid"/>
          </a:ln>
        </p:spPr>
      </p:sp>
      <p:sp>
        <p:nvSpPr>
          <p:cNvPr id="29" name="Text 26"/>
          <p:cNvSpPr/>
          <p:nvPr/>
        </p:nvSpPr>
        <p:spPr>
          <a:xfrm>
            <a:off x="1938528" y="416966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Kannada</a:t>
            </a:r>
            <a:endParaRPr lang="en-US" sz="1100" dirty="0"/>
          </a:p>
        </p:txBody>
      </p:sp>
      <p:sp>
        <p:nvSpPr>
          <p:cNvPr id="30" name="Shape 27"/>
          <p:cNvSpPr/>
          <p:nvPr/>
        </p:nvSpPr>
        <p:spPr>
          <a:xfrm>
            <a:off x="3465576" y="1298448"/>
            <a:ext cx="1389888" cy="420624"/>
          </a:xfrm>
          <a:prstGeom prst="rect">
            <a:avLst/>
          </a:prstGeom>
          <a:solidFill>
            <a:srgbClr val="0D7A6B">
              <a:alpha val="25000"/>
            </a:srgbClr>
          </a:solidFill>
          <a:ln w="19050">
            <a:solidFill>
              <a:srgbClr val="0D7A6B"/>
            </a:solidFill>
            <a:prstDash val="solid"/>
          </a:ln>
        </p:spPr>
      </p:sp>
      <p:sp>
        <p:nvSpPr>
          <p:cNvPr id="31" name="Text 28"/>
          <p:cNvSpPr/>
          <p:nvPr/>
        </p:nvSpPr>
        <p:spPr>
          <a:xfrm>
            <a:off x="3511296"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Portugeese</a:t>
            </a:r>
            <a:endParaRPr lang="en-US" sz="1100" dirty="0"/>
          </a:p>
        </p:txBody>
      </p:sp>
      <p:sp>
        <p:nvSpPr>
          <p:cNvPr id="32" name="Shape 29"/>
          <p:cNvSpPr/>
          <p:nvPr/>
        </p:nvSpPr>
        <p:spPr>
          <a:xfrm>
            <a:off x="3465576" y="1865376"/>
            <a:ext cx="1389888" cy="420624"/>
          </a:xfrm>
          <a:prstGeom prst="rect">
            <a:avLst/>
          </a:prstGeom>
          <a:solidFill>
            <a:srgbClr val="1B4F8A">
              <a:alpha val="25000"/>
            </a:srgbClr>
          </a:solidFill>
          <a:ln w="19050">
            <a:solidFill>
              <a:srgbClr val="1B4F8A"/>
            </a:solidFill>
            <a:prstDash val="solid"/>
          </a:ln>
        </p:spPr>
      </p:sp>
      <p:sp>
        <p:nvSpPr>
          <p:cNvPr id="33" name="Text 30"/>
          <p:cNvSpPr/>
          <p:nvPr/>
        </p:nvSpPr>
        <p:spPr>
          <a:xfrm>
            <a:off x="3511296"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Dutch</a:t>
            </a:r>
            <a:endParaRPr lang="en-US" sz="1100" dirty="0"/>
          </a:p>
        </p:txBody>
      </p:sp>
      <p:sp>
        <p:nvSpPr>
          <p:cNvPr id="34" name="Shape 31"/>
          <p:cNvSpPr/>
          <p:nvPr/>
        </p:nvSpPr>
        <p:spPr>
          <a:xfrm>
            <a:off x="3465576" y="2432304"/>
            <a:ext cx="1389888" cy="420624"/>
          </a:xfrm>
          <a:prstGeom prst="rect">
            <a:avLst/>
          </a:prstGeom>
          <a:solidFill>
            <a:srgbClr val="C0392B">
              <a:alpha val="25000"/>
            </a:srgbClr>
          </a:solidFill>
          <a:ln w="19050">
            <a:solidFill>
              <a:srgbClr val="C0392B"/>
            </a:solidFill>
            <a:prstDash val="solid"/>
          </a:ln>
        </p:spPr>
      </p:sp>
      <p:sp>
        <p:nvSpPr>
          <p:cNvPr id="35" name="Text 32"/>
          <p:cNvSpPr/>
          <p:nvPr/>
        </p:nvSpPr>
        <p:spPr>
          <a:xfrm>
            <a:off x="3511296"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Danish</a:t>
            </a:r>
            <a:endParaRPr lang="en-US" sz="1100" dirty="0"/>
          </a:p>
        </p:txBody>
      </p:sp>
      <p:sp>
        <p:nvSpPr>
          <p:cNvPr id="36" name="Shape 33"/>
          <p:cNvSpPr/>
          <p:nvPr/>
        </p:nvSpPr>
        <p:spPr>
          <a:xfrm>
            <a:off x="3465576" y="2999232"/>
            <a:ext cx="1389888" cy="420624"/>
          </a:xfrm>
          <a:prstGeom prst="rect">
            <a:avLst/>
          </a:prstGeom>
          <a:solidFill>
            <a:srgbClr val="0D7A6B">
              <a:alpha val="25000"/>
            </a:srgbClr>
          </a:solidFill>
          <a:ln w="19050">
            <a:solidFill>
              <a:srgbClr val="0D7A6B"/>
            </a:solidFill>
            <a:prstDash val="solid"/>
          </a:ln>
        </p:spPr>
      </p:sp>
      <p:sp>
        <p:nvSpPr>
          <p:cNvPr id="37" name="Text 34"/>
          <p:cNvSpPr/>
          <p:nvPr/>
        </p:nvSpPr>
        <p:spPr>
          <a:xfrm>
            <a:off x="3511296"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Swedish</a:t>
            </a:r>
            <a:endParaRPr lang="en-US" sz="1100" dirty="0"/>
          </a:p>
        </p:txBody>
      </p:sp>
      <p:sp>
        <p:nvSpPr>
          <p:cNvPr id="38" name="Shape 35"/>
          <p:cNvSpPr/>
          <p:nvPr/>
        </p:nvSpPr>
        <p:spPr>
          <a:xfrm>
            <a:off x="3465576" y="3566160"/>
            <a:ext cx="1389888" cy="420624"/>
          </a:xfrm>
          <a:prstGeom prst="rect">
            <a:avLst/>
          </a:prstGeom>
          <a:solidFill>
            <a:srgbClr val="0E9AD1">
              <a:alpha val="25000"/>
            </a:srgbClr>
          </a:solidFill>
          <a:ln w="19050">
            <a:solidFill>
              <a:srgbClr val="0E9AD1"/>
            </a:solidFill>
            <a:prstDash val="solid"/>
          </a:ln>
        </p:spPr>
      </p:sp>
      <p:sp>
        <p:nvSpPr>
          <p:cNvPr id="39" name="Text 36"/>
          <p:cNvSpPr/>
          <p:nvPr/>
        </p:nvSpPr>
        <p:spPr>
          <a:xfrm>
            <a:off x="3511296"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Turkish</a:t>
            </a:r>
            <a:endParaRPr lang="en-US" sz="1100" dirty="0"/>
          </a:p>
        </p:txBody>
      </p:sp>
      <p:sp>
        <p:nvSpPr>
          <p:cNvPr id="40" name="Shape 37"/>
          <p:cNvSpPr/>
          <p:nvPr/>
        </p:nvSpPr>
        <p:spPr>
          <a:xfrm>
            <a:off x="5212080" y="749808"/>
            <a:ext cx="3657600" cy="4023360"/>
          </a:xfrm>
          <a:prstGeom prst="rect">
            <a:avLst/>
          </a:prstGeom>
          <a:solidFill>
            <a:srgbClr val="132340"/>
          </a:solidFill>
          <a:ln w="19050">
            <a:solidFill>
              <a:srgbClr val="0E9AD1"/>
            </a:solidFill>
            <a:prstDash val="solid"/>
          </a:ln>
        </p:spPr>
      </p:sp>
      <p:sp>
        <p:nvSpPr>
          <p:cNvPr id="41" name="Text 38"/>
          <p:cNvSpPr/>
          <p:nvPr/>
        </p:nvSpPr>
        <p:spPr>
          <a:xfrm>
            <a:off x="5394960" y="868680"/>
            <a:ext cx="3291840" cy="384048"/>
          </a:xfrm>
          <a:prstGeom prst="rect">
            <a:avLst/>
          </a:prstGeom>
          <a:noFill/>
          <a:ln/>
        </p:spPr>
        <p:txBody>
          <a:bodyPr wrap="square" lIns="0" tIns="0" rIns="0" bIns="0" rtlCol="0" anchor="ctr"/>
          <a:lstStyle/>
          <a:p>
            <a:pPr indent="0" marL="0">
              <a:buNone/>
            </a:pPr>
            <a:r>
              <a:rPr lang="en-US" sz="1500" b="1" dirty="0">
                <a:solidFill>
                  <a:srgbClr val="0E9AD1"/>
                </a:solidFill>
                <a:latin typeface="Calibri" pitchFamily="34" charset="0"/>
                <a:ea typeface="Calibri" pitchFamily="34" charset="-122"/>
                <a:cs typeface="Calibri" pitchFamily="34" charset="-120"/>
              </a:rPr>
              <a:t>Why It Matters</a:t>
            </a:r>
            <a:endParaRPr lang="en-US" sz="1500" dirty="0"/>
          </a:p>
        </p:txBody>
      </p:sp>
      <p:sp>
        <p:nvSpPr>
          <p:cNvPr id="42" name="Shape 39"/>
          <p:cNvSpPr/>
          <p:nvPr/>
        </p:nvSpPr>
        <p:spPr>
          <a:xfrm>
            <a:off x="5394960" y="1389888"/>
            <a:ext cx="54864" cy="347472"/>
          </a:xfrm>
          <a:prstGeom prst="rect">
            <a:avLst/>
          </a:prstGeom>
          <a:solidFill>
            <a:srgbClr val="0E9AD1"/>
          </a:solidFill>
          <a:ln w="12700">
            <a:solidFill>
              <a:srgbClr val="0E9AD1"/>
            </a:solidFill>
            <a:prstDash val="solid"/>
          </a:ln>
        </p:spPr>
      </p:sp>
      <p:sp>
        <p:nvSpPr>
          <p:cNvPr id="43" name="Text 40"/>
          <p:cNvSpPr/>
          <p:nvPr/>
        </p:nvSpPr>
        <p:spPr>
          <a:xfrm>
            <a:off x="5577840" y="1389888"/>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India has 22 official languages — most NLP tools only handle English</a:t>
            </a:r>
            <a:endParaRPr lang="en-US" sz="1100" dirty="0"/>
          </a:p>
        </p:txBody>
      </p:sp>
      <p:sp>
        <p:nvSpPr>
          <p:cNvPr id="44" name="Shape 41"/>
          <p:cNvSpPr/>
          <p:nvPr/>
        </p:nvSpPr>
        <p:spPr>
          <a:xfrm>
            <a:off x="5394960" y="1956816"/>
            <a:ext cx="54864" cy="347472"/>
          </a:xfrm>
          <a:prstGeom prst="rect">
            <a:avLst/>
          </a:prstGeom>
          <a:solidFill>
            <a:srgbClr val="0E9AD1"/>
          </a:solidFill>
          <a:ln w="12700">
            <a:solidFill>
              <a:srgbClr val="0E9AD1"/>
            </a:solidFill>
            <a:prstDash val="solid"/>
          </a:ln>
        </p:spPr>
      </p:sp>
      <p:sp>
        <p:nvSpPr>
          <p:cNvPr id="45" name="Text 42"/>
          <p:cNvSpPr/>
          <p:nvPr/>
        </p:nvSpPr>
        <p:spPr>
          <a:xfrm>
            <a:off x="5577840" y="1956816"/>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Businesses need to route customer queries to the right language support team</a:t>
            </a:r>
            <a:endParaRPr lang="en-US" sz="1100" dirty="0"/>
          </a:p>
        </p:txBody>
      </p:sp>
      <p:sp>
        <p:nvSpPr>
          <p:cNvPr id="46" name="Shape 43"/>
          <p:cNvSpPr/>
          <p:nvPr/>
        </p:nvSpPr>
        <p:spPr>
          <a:xfrm>
            <a:off x="5394960" y="2523744"/>
            <a:ext cx="54864" cy="347472"/>
          </a:xfrm>
          <a:prstGeom prst="rect">
            <a:avLst/>
          </a:prstGeom>
          <a:solidFill>
            <a:srgbClr val="0E9AD1"/>
          </a:solidFill>
          <a:ln w="12700">
            <a:solidFill>
              <a:srgbClr val="0E9AD1"/>
            </a:solidFill>
            <a:prstDash val="solid"/>
          </a:ln>
        </p:spPr>
      </p:sp>
      <p:sp>
        <p:nvSpPr>
          <p:cNvPr id="47" name="Text 44"/>
          <p:cNvSpPr/>
          <p:nvPr/>
        </p:nvSpPr>
        <p:spPr>
          <a:xfrm>
            <a:off x="5577840" y="2523744"/>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Content platforms need to classify articles by language before processing</a:t>
            </a:r>
            <a:endParaRPr lang="en-US" sz="1100" dirty="0"/>
          </a:p>
        </p:txBody>
      </p:sp>
      <p:sp>
        <p:nvSpPr>
          <p:cNvPr id="48" name="Shape 45"/>
          <p:cNvSpPr/>
          <p:nvPr/>
        </p:nvSpPr>
        <p:spPr>
          <a:xfrm>
            <a:off x="5394960" y="3090672"/>
            <a:ext cx="54864" cy="347472"/>
          </a:xfrm>
          <a:prstGeom prst="rect">
            <a:avLst/>
          </a:prstGeom>
          <a:solidFill>
            <a:srgbClr val="0E9AD1"/>
          </a:solidFill>
          <a:ln w="12700">
            <a:solidFill>
              <a:srgbClr val="0E9AD1"/>
            </a:solidFill>
            <a:prstDash val="solid"/>
          </a:ln>
        </p:spPr>
      </p:sp>
      <p:sp>
        <p:nvSpPr>
          <p:cNvPr id="49" name="Text 46"/>
          <p:cNvSpPr/>
          <p:nvPr/>
        </p:nvSpPr>
        <p:spPr>
          <a:xfrm>
            <a:off x="5577840" y="3090672"/>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LogisticRegression model trained on character n-gram features</a:t>
            </a:r>
            <a:endParaRPr lang="en-US" sz="1100" dirty="0"/>
          </a:p>
        </p:txBody>
      </p:sp>
      <p:sp>
        <p:nvSpPr>
          <p:cNvPr id="50" name="Shape 47"/>
          <p:cNvSpPr/>
          <p:nvPr/>
        </p:nvSpPr>
        <p:spPr>
          <a:xfrm>
            <a:off x="5394960" y="3657600"/>
            <a:ext cx="54864" cy="347472"/>
          </a:xfrm>
          <a:prstGeom prst="rect">
            <a:avLst/>
          </a:prstGeom>
          <a:solidFill>
            <a:srgbClr val="0E9AD1"/>
          </a:solidFill>
          <a:ln w="12700">
            <a:solidFill>
              <a:srgbClr val="0E9AD1"/>
            </a:solidFill>
            <a:prstDash val="solid"/>
          </a:ln>
        </p:spPr>
      </p:sp>
      <p:sp>
        <p:nvSpPr>
          <p:cNvPr id="51" name="Text 48"/>
          <p:cNvSpPr/>
          <p:nvPr/>
        </p:nvSpPr>
        <p:spPr>
          <a:xfrm>
            <a:off x="5577840" y="3657600"/>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Achieves high accuracy even on short texts like tweets or messages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7A6B"/>
          </a:solidFill>
          <a:ln w="12700">
            <a:solidFill>
              <a:srgbClr val="0D7A6B"/>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libri" pitchFamily="34" charset="0"/>
                <a:ea typeface="Calibri" pitchFamily="34" charset="-122"/>
                <a:cs typeface="Calibri" pitchFamily="34" charset="-120"/>
              </a:rPr>
              <a:t>MODEL 3 — FOOD REVIEW SENTIMENT</a:t>
            </a:r>
            <a:endParaRPr lang="en-US" sz="1800" dirty="0"/>
          </a:p>
        </p:txBody>
      </p:sp>
      <p:sp>
        <p:nvSpPr>
          <p:cNvPr id="5" name="Text 2"/>
          <p:cNvSpPr/>
          <p:nvPr/>
        </p:nvSpPr>
        <p:spPr>
          <a:xfrm>
            <a:off x="320040" y="777240"/>
            <a:ext cx="8229600" cy="384048"/>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Who Benefits?</a:t>
            </a:r>
            <a:endParaRPr lang="en-US" sz="1600" dirty="0"/>
          </a:p>
        </p:txBody>
      </p:sp>
      <p:sp>
        <p:nvSpPr>
          <p:cNvPr id="6" name="Shape 3"/>
          <p:cNvSpPr/>
          <p:nvPr/>
        </p:nvSpPr>
        <p:spPr>
          <a:xfrm>
            <a:off x="320040" y="1298448"/>
            <a:ext cx="2651760" cy="1417320"/>
          </a:xfrm>
          <a:prstGeom prst="rect">
            <a:avLst/>
          </a:prstGeom>
          <a:solidFill>
            <a:srgbClr val="FFFFFF"/>
          </a:solidFill>
          <a:ln w="25400">
            <a:solidFill>
              <a:srgbClr val="0D7A6B"/>
            </a:solidFill>
            <a:prstDash val="solid"/>
          </a:ln>
          <a:effectLst>
            <a:outerShdw sx="100000" sy="100000" kx="0" ky="0" algn="bl" rotWithShape="0" blurRad="101600" dist="25400" dir="8100000">
              <a:srgbClr val="000000">
                <a:alpha val="10000"/>
              </a:srgbClr>
            </a:outerShdw>
          </a:effectLst>
        </p:spPr>
      </p:sp>
      <p:sp>
        <p:nvSpPr>
          <p:cNvPr id="7" name="Shape 4"/>
          <p:cNvSpPr/>
          <p:nvPr/>
        </p:nvSpPr>
        <p:spPr>
          <a:xfrm>
            <a:off x="320040" y="1298448"/>
            <a:ext cx="2651760" cy="64008"/>
          </a:xfrm>
          <a:prstGeom prst="rect">
            <a:avLst/>
          </a:prstGeom>
          <a:solidFill>
            <a:srgbClr val="0D7A6B"/>
          </a:solidFill>
          <a:ln w="12700">
            <a:solidFill>
              <a:srgbClr val="0D7A6B"/>
            </a:solidFill>
            <a:prstDash val="solid"/>
          </a:ln>
        </p:spPr>
      </p:sp>
      <p:sp>
        <p:nvSpPr>
          <p:cNvPr id="8" name="Text 5"/>
          <p:cNvSpPr/>
          <p:nvPr/>
        </p:nvSpPr>
        <p:spPr>
          <a:xfrm>
            <a:off x="457200"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Restaurant Owners</a:t>
            </a:r>
            <a:endParaRPr lang="en-US" sz="1400" dirty="0"/>
          </a:p>
        </p:txBody>
      </p:sp>
      <p:sp>
        <p:nvSpPr>
          <p:cNvPr id="9" name="Text 6"/>
          <p:cNvSpPr/>
          <p:nvPr/>
        </p:nvSpPr>
        <p:spPr>
          <a:xfrm>
            <a:off x="457200"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Understand what customers love or hate without reading every review manually.</a:t>
            </a:r>
            <a:endParaRPr lang="en-US" sz="1100" dirty="0"/>
          </a:p>
        </p:txBody>
      </p:sp>
      <p:sp>
        <p:nvSpPr>
          <p:cNvPr id="10" name="Shape 7"/>
          <p:cNvSpPr/>
          <p:nvPr/>
        </p:nvSpPr>
        <p:spPr>
          <a:xfrm>
            <a:off x="3227832" y="1298448"/>
            <a:ext cx="2651760" cy="1417320"/>
          </a:xfrm>
          <a:prstGeom prst="rect">
            <a:avLst/>
          </a:prstGeom>
          <a:solidFill>
            <a:srgbClr val="FFFFFF"/>
          </a:solidFill>
          <a:ln w="25400">
            <a:solidFill>
              <a:srgbClr val="E8680C"/>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3227832" y="1298448"/>
            <a:ext cx="2651760" cy="64008"/>
          </a:xfrm>
          <a:prstGeom prst="rect">
            <a:avLst/>
          </a:prstGeom>
          <a:solidFill>
            <a:srgbClr val="E8680C"/>
          </a:solidFill>
          <a:ln w="12700">
            <a:solidFill>
              <a:srgbClr val="E8680C"/>
            </a:solidFill>
            <a:prstDash val="solid"/>
          </a:ln>
        </p:spPr>
      </p:sp>
      <p:sp>
        <p:nvSpPr>
          <p:cNvPr id="12" name="Text 9"/>
          <p:cNvSpPr/>
          <p:nvPr/>
        </p:nvSpPr>
        <p:spPr>
          <a:xfrm>
            <a:off x="3364992"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Food Aggregators</a:t>
            </a:r>
            <a:endParaRPr lang="en-US" sz="1400" dirty="0"/>
          </a:p>
        </p:txBody>
      </p:sp>
      <p:sp>
        <p:nvSpPr>
          <p:cNvPr id="13" name="Text 10"/>
          <p:cNvSpPr/>
          <p:nvPr/>
        </p:nvSpPr>
        <p:spPr>
          <a:xfrm>
            <a:off x="3364992"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Auto-filter fake positive reviews and surface genuine negative feedback.</a:t>
            </a:r>
            <a:endParaRPr lang="en-US" sz="1100" dirty="0"/>
          </a:p>
        </p:txBody>
      </p:sp>
      <p:sp>
        <p:nvSpPr>
          <p:cNvPr id="14" name="Shape 11"/>
          <p:cNvSpPr/>
          <p:nvPr/>
        </p:nvSpPr>
        <p:spPr>
          <a:xfrm>
            <a:off x="6135624" y="1298448"/>
            <a:ext cx="2651760" cy="1417320"/>
          </a:xfrm>
          <a:prstGeom prst="rect">
            <a:avLst/>
          </a:prstGeom>
          <a:solidFill>
            <a:srgbClr val="FFFFFF"/>
          </a:solidFill>
          <a:ln w="25400">
            <a:solidFill>
              <a:srgbClr val="1B4F8A"/>
            </a:solidFill>
            <a:prstDash val="solid"/>
          </a:ln>
          <a:effectLst>
            <a:outerShdw sx="100000" sy="100000" kx="0" ky="0" algn="bl" rotWithShape="0" blurRad="101600" dist="25400" dir="8100000">
              <a:srgbClr val="000000">
                <a:alpha val="10000"/>
              </a:srgbClr>
            </a:outerShdw>
          </a:effectLst>
        </p:spPr>
      </p:sp>
      <p:sp>
        <p:nvSpPr>
          <p:cNvPr id="15" name="Shape 12"/>
          <p:cNvSpPr/>
          <p:nvPr/>
        </p:nvSpPr>
        <p:spPr>
          <a:xfrm>
            <a:off x="6135624" y="1298448"/>
            <a:ext cx="2651760" cy="64008"/>
          </a:xfrm>
          <a:prstGeom prst="rect">
            <a:avLst/>
          </a:prstGeom>
          <a:solidFill>
            <a:srgbClr val="1B4F8A"/>
          </a:solidFill>
          <a:ln w="12700">
            <a:solidFill>
              <a:srgbClr val="1B4F8A"/>
            </a:solidFill>
            <a:prstDash val="solid"/>
          </a:ln>
        </p:spPr>
      </p:sp>
      <p:sp>
        <p:nvSpPr>
          <p:cNvPr id="16" name="Text 13"/>
          <p:cNvSpPr/>
          <p:nvPr/>
        </p:nvSpPr>
        <p:spPr>
          <a:xfrm>
            <a:off x="6272784"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Customers</a:t>
            </a:r>
            <a:endParaRPr lang="en-US" sz="1400" dirty="0"/>
          </a:p>
        </p:txBody>
      </p:sp>
      <p:sp>
        <p:nvSpPr>
          <p:cNvPr id="17" name="Text 14"/>
          <p:cNvSpPr/>
          <p:nvPr/>
        </p:nvSpPr>
        <p:spPr>
          <a:xfrm>
            <a:off x="6272784"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Trust ratings that are backed by AI-verified sentiment, not just star counts.</a:t>
            </a:r>
            <a:endParaRPr lang="en-US" sz="1100" dirty="0"/>
          </a:p>
        </p:txBody>
      </p:sp>
      <p:sp>
        <p:nvSpPr>
          <p:cNvPr id="18" name="Text 15"/>
          <p:cNvSpPr/>
          <p:nvPr/>
        </p:nvSpPr>
        <p:spPr>
          <a:xfrm>
            <a:off x="320040" y="2880360"/>
            <a:ext cx="8229600" cy="384048"/>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Sample Predictions</a:t>
            </a:r>
            <a:endParaRPr lang="en-US" sz="1600" dirty="0"/>
          </a:p>
        </p:txBody>
      </p:sp>
      <p:sp>
        <p:nvSpPr>
          <p:cNvPr id="19" name="Shape 16"/>
          <p:cNvSpPr/>
          <p:nvPr/>
        </p:nvSpPr>
        <p:spPr>
          <a:xfrm>
            <a:off x="320040" y="3401568"/>
            <a:ext cx="4114800" cy="502920"/>
          </a:xfrm>
          <a:prstGeom prst="rect">
            <a:avLst/>
          </a:prstGeom>
          <a:solidFill>
            <a:srgbClr val="EEF4FB"/>
          </a:solidFill>
          <a:ln w="19050">
            <a:solidFill>
              <a:srgbClr val="1A8C5C"/>
            </a:solidFill>
            <a:prstDash val="solid"/>
          </a:ln>
        </p:spPr>
      </p:sp>
      <p:sp>
        <p:nvSpPr>
          <p:cNvPr id="20" name="Text 17"/>
          <p:cNvSpPr/>
          <p:nvPr/>
        </p:nvSpPr>
        <p:spPr>
          <a:xfrm>
            <a:off x="429768" y="3438144"/>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"The biryani was absolutely divine, perfectly spiced and fresh!"</a:t>
            </a:r>
            <a:endParaRPr lang="en-US" sz="1000" dirty="0"/>
          </a:p>
        </p:txBody>
      </p:sp>
      <p:sp>
        <p:nvSpPr>
          <p:cNvPr id="21" name="Text 18"/>
          <p:cNvSpPr/>
          <p:nvPr/>
        </p:nvSpPr>
        <p:spPr>
          <a:xfrm>
            <a:off x="3474720" y="3438144"/>
            <a:ext cx="914400" cy="429768"/>
          </a:xfrm>
          <a:prstGeom prst="rect">
            <a:avLst/>
          </a:prstGeom>
          <a:noFill/>
          <a:ln/>
        </p:spPr>
        <p:txBody>
          <a:bodyPr wrap="square" lIns="0" tIns="0" rIns="0" bIns="0" rtlCol="0" anchor="ctr"/>
          <a:lstStyle/>
          <a:p>
            <a:pPr algn="r" indent="0" marL="0">
              <a:buNone/>
            </a:pPr>
            <a:r>
              <a:rPr lang="en-US" sz="1000" b="1" dirty="0">
                <a:solidFill>
                  <a:srgbClr val="1A8C5C"/>
                </a:solidFill>
                <a:latin typeface="Calibri" pitchFamily="34" charset="0"/>
                <a:ea typeface="Calibri" pitchFamily="34" charset="-122"/>
                <a:cs typeface="Calibri" pitchFamily="34" charset="-120"/>
              </a:rPr>
              <a:t>😋 POSITIVE</a:t>
            </a:r>
            <a:endParaRPr lang="en-US" sz="1000" dirty="0"/>
          </a:p>
        </p:txBody>
      </p:sp>
      <p:sp>
        <p:nvSpPr>
          <p:cNvPr id="22" name="Shape 19"/>
          <p:cNvSpPr/>
          <p:nvPr/>
        </p:nvSpPr>
        <p:spPr>
          <a:xfrm>
            <a:off x="320040" y="4023360"/>
            <a:ext cx="4114800" cy="502920"/>
          </a:xfrm>
          <a:prstGeom prst="rect">
            <a:avLst/>
          </a:prstGeom>
          <a:solidFill>
            <a:srgbClr val="EEF4FB"/>
          </a:solidFill>
          <a:ln w="19050">
            <a:solidFill>
              <a:srgbClr val="C0392B"/>
            </a:solidFill>
            <a:prstDash val="solid"/>
          </a:ln>
        </p:spPr>
      </p:sp>
      <p:sp>
        <p:nvSpPr>
          <p:cNvPr id="23" name="Text 20"/>
          <p:cNvSpPr/>
          <p:nvPr/>
        </p:nvSpPr>
        <p:spPr>
          <a:xfrm>
            <a:off x="429768" y="4059936"/>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"Food was cold and tasteless, completely disappointed with our visit."</a:t>
            </a:r>
            <a:endParaRPr lang="en-US" sz="1000" dirty="0"/>
          </a:p>
        </p:txBody>
      </p:sp>
      <p:sp>
        <p:nvSpPr>
          <p:cNvPr id="24" name="Text 21"/>
          <p:cNvSpPr/>
          <p:nvPr/>
        </p:nvSpPr>
        <p:spPr>
          <a:xfrm>
            <a:off x="3474720" y="4059936"/>
            <a:ext cx="914400" cy="429768"/>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 NEGATIVE</a:t>
            </a:r>
            <a:endParaRPr lang="en-US" sz="1000" dirty="0"/>
          </a:p>
        </p:txBody>
      </p:sp>
      <p:sp>
        <p:nvSpPr>
          <p:cNvPr id="25" name="Shape 22"/>
          <p:cNvSpPr/>
          <p:nvPr/>
        </p:nvSpPr>
        <p:spPr>
          <a:xfrm>
            <a:off x="4754880" y="3401568"/>
            <a:ext cx="4114800" cy="502920"/>
          </a:xfrm>
          <a:prstGeom prst="rect">
            <a:avLst/>
          </a:prstGeom>
          <a:solidFill>
            <a:srgbClr val="EEF4FB"/>
          </a:solidFill>
          <a:ln w="19050">
            <a:solidFill>
              <a:srgbClr val="1A8C5C"/>
            </a:solidFill>
            <a:prstDash val="solid"/>
          </a:ln>
        </p:spPr>
      </p:sp>
      <p:sp>
        <p:nvSpPr>
          <p:cNvPr id="26" name="Text 23"/>
          <p:cNvSpPr/>
          <p:nvPr/>
        </p:nvSpPr>
        <p:spPr>
          <a:xfrm>
            <a:off x="4864608" y="3438144"/>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"Amazing flavours, will definitely come back again soon!"</a:t>
            </a:r>
            <a:endParaRPr lang="en-US" sz="1000" dirty="0"/>
          </a:p>
        </p:txBody>
      </p:sp>
      <p:sp>
        <p:nvSpPr>
          <p:cNvPr id="27" name="Text 24"/>
          <p:cNvSpPr/>
          <p:nvPr/>
        </p:nvSpPr>
        <p:spPr>
          <a:xfrm>
            <a:off x="7909560" y="3438144"/>
            <a:ext cx="914400" cy="429768"/>
          </a:xfrm>
          <a:prstGeom prst="rect">
            <a:avLst/>
          </a:prstGeom>
          <a:noFill/>
          <a:ln/>
        </p:spPr>
        <p:txBody>
          <a:bodyPr wrap="square" lIns="0" tIns="0" rIns="0" bIns="0" rtlCol="0" anchor="ctr"/>
          <a:lstStyle/>
          <a:p>
            <a:pPr algn="r" indent="0" marL="0">
              <a:buNone/>
            </a:pPr>
            <a:r>
              <a:rPr lang="en-US" sz="1000" b="1" dirty="0">
                <a:solidFill>
                  <a:srgbClr val="1A8C5C"/>
                </a:solidFill>
                <a:latin typeface="Calibri" pitchFamily="34" charset="0"/>
                <a:ea typeface="Calibri" pitchFamily="34" charset="-122"/>
                <a:cs typeface="Calibri" pitchFamily="34" charset="-120"/>
              </a:rPr>
              <a:t>😋 POSITIVE</a:t>
            </a:r>
            <a:endParaRPr lang="en-US" sz="1000" dirty="0"/>
          </a:p>
        </p:txBody>
      </p:sp>
      <p:sp>
        <p:nvSpPr>
          <p:cNvPr id="28" name="Shape 25"/>
          <p:cNvSpPr/>
          <p:nvPr/>
        </p:nvSpPr>
        <p:spPr>
          <a:xfrm>
            <a:off x="4754880" y="4023360"/>
            <a:ext cx="4114800" cy="502920"/>
          </a:xfrm>
          <a:prstGeom prst="rect">
            <a:avLst/>
          </a:prstGeom>
          <a:solidFill>
            <a:srgbClr val="EEF4FB"/>
          </a:solidFill>
          <a:ln w="19050">
            <a:solidFill>
              <a:srgbClr val="C0392B"/>
            </a:solidFill>
            <a:prstDash val="solid"/>
          </a:ln>
        </p:spPr>
      </p:sp>
      <p:sp>
        <p:nvSpPr>
          <p:cNvPr id="29" name="Text 26"/>
          <p:cNvSpPr/>
          <p:nvPr/>
        </p:nvSpPr>
        <p:spPr>
          <a:xfrm>
            <a:off x="4864608" y="4059936"/>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"Waited an hour, arrived wrong and the place was dirty."</a:t>
            </a:r>
            <a:endParaRPr lang="en-US" sz="1000" dirty="0"/>
          </a:p>
        </p:txBody>
      </p:sp>
      <p:sp>
        <p:nvSpPr>
          <p:cNvPr id="30" name="Text 27"/>
          <p:cNvSpPr/>
          <p:nvPr/>
        </p:nvSpPr>
        <p:spPr>
          <a:xfrm>
            <a:off x="7909560" y="4059936"/>
            <a:ext cx="914400" cy="429768"/>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 NEGATIVE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8680C"/>
          </a:solidFill>
          <a:ln w="12700">
            <a:solidFill>
              <a:srgbClr val="E8680C"/>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0A1628"/>
                </a:solidFill>
                <a:latin typeface="Calibri" pitchFamily="34" charset="0"/>
                <a:ea typeface="Calibri" pitchFamily="34" charset="-122"/>
                <a:cs typeface="Calibri" pitchFamily="34" charset="-120"/>
              </a:rPr>
              <a:t>MODEL 4 — NEWS CLASSIFICATION</a:t>
            </a:r>
            <a:endParaRPr lang="en-US" sz="1800" dirty="0"/>
          </a:p>
        </p:txBody>
      </p:sp>
      <p:sp>
        <p:nvSpPr>
          <p:cNvPr id="5" name="Text 2"/>
          <p:cNvSpPr/>
          <p:nvPr/>
        </p:nvSpPr>
        <p:spPr>
          <a:xfrm>
            <a:off x="320040" y="777240"/>
            <a:ext cx="5029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News Categories Detected</a:t>
            </a:r>
            <a:endParaRPr lang="en-US" sz="1600" dirty="0"/>
          </a:p>
        </p:txBody>
      </p:sp>
      <p:sp>
        <p:nvSpPr>
          <p:cNvPr id="6" name="Shape 3"/>
          <p:cNvSpPr/>
          <p:nvPr/>
        </p:nvSpPr>
        <p:spPr>
          <a:xfrm>
            <a:off x="320040" y="1298448"/>
            <a:ext cx="1417320" cy="713232"/>
          </a:xfrm>
          <a:prstGeom prst="rect">
            <a:avLst/>
          </a:prstGeom>
          <a:solidFill>
            <a:srgbClr val="1B4F8A">
              <a:alpha val="30000"/>
            </a:srgbClr>
          </a:solidFill>
          <a:ln w="25400">
            <a:solidFill>
              <a:srgbClr val="1B4F8A"/>
            </a:solidFill>
            <a:prstDash val="solid"/>
          </a:ln>
        </p:spPr>
      </p:sp>
      <p:sp>
        <p:nvSpPr>
          <p:cNvPr id="7" name="Text 4"/>
          <p:cNvSpPr/>
          <p:nvPr/>
        </p:nvSpPr>
        <p:spPr>
          <a:xfrm>
            <a:off x="393192"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Politics</a:t>
            </a:r>
            <a:endParaRPr lang="en-US" sz="1200" dirty="0"/>
          </a:p>
        </p:txBody>
      </p:sp>
      <p:sp>
        <p:nvSpPr>
          <p:cNvPr id="8" name="Shape 5"/>
          <p:cNvSpPr/>
          <p:nvPr/>
        </p:nvSpPr>
        <p:spPr>
          <a:xfrm>
            <a:off x="1892808" y="1298448"/>
            <a:ext cx="1417320" cy="713232"/>
          </a:xfrm>
          <a:prstGeom prst="rect">
            <a:avLst/>
          </a:prstGeom>
          <a:solidFill>
            <a:srgbClr val="1A8C5C">
              <a:alpha val="30000"/>
            </a:srgbClr>
          </a:solidFill>
          <a:ln w="25400">
            <a:solidFill>
              <a:srgbClr val="1A8C5C"/>
            </a:solidFill>
            <a:prstDash val="solid"/>
          </a:ln>
        </p:spPr>
      </p:sp>
      <p:sp>
        <p:nvSpPr>
          <p:cNvPr id="9" name="Text 6"/>
          <p:cNvSpPr/>
          <p:nvPr/>
        </p:nvSpPr>
        <p:spPr>
          <a:xfrm>
            <a:off x="1965960"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Sports</a:t>
            </a:r>
            <a:endParaRPr lang="en-US" sz="1200" dirty="0"/>
          </a:p>
        </p:txBody>
      </p:sp>
      <p:sp>
        <p:nvSpPr>
          <p:cNvPr id="10" name="Shape 7"/>
          <p:cNvSpPr/>
          <p:nvPr/>
        </p:nvSpPr>
        <p:spPr>
          <a:xfrm>
            <a:off x="3465576" y="1298448"/>
            <a:ext cx="1417320" cy="713232"/>
          </a:xfrm>
          <a:prstGeom prst="rect">
            <a:avLst/>
          </a:prstGeom>
          <a:solidFill>
            <a:srgbClr val="0E9AD1">
              <a:alpha val="30000"/>
            </a:srgbClr>
          </a:solidFill>
          <a:ln w="25400">
            <a:solidFill>
              <a:srgbClr val="0E9AD1"/>
            </a:solidFill>
            <a:prstDash val="solid"/>
          </a:ln>
        </p:spPr>
      </p:sp>
      <p:sp>
        <p:nvSpPr>
          <p:cNvPr id="11" name="Text 8"/>
          <p:cNvSpPr/>
          <p:nvPr/>
        </p:nvSpPr>
        <p:spPr>
          <a:xfrm>
            <a:off x="3538728"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Technology</a:t>
            </a:r>
            <a:endParaRPr lang="en-US" sz="1200" dirty="0"/>
          </a:p>
        </p:txBody>
      </p:sp>
      <p:sp>
        <p:nvSpPr>
          <p:cNvPr id="12" name="Shape 9"/>
          <p:cNvSpPr/>
          <p:nvPr/>
        </p:nvSpPr>
        <p:spPr>
          <a:xfrm>
            <a:off x="320040" y="2212848"/>
            <a:ext cx="1417320" cy="713232"/>
          </a:xfrm>
          <a:prstGeom prst="rect">
            <a:avLst/>
          </a:prstGeom>
          <a:solidFill>
            <a:srgbClr val="0D7A6B">
              <a:alpha val="30000"/>
            </a:srgbClr>
          </a:solidFill>
          <a:ln w="25400">
            <a:solidFill>
              <a:srgbClr val="0D7A6B"/>
            </a:solidFill>
            <a:prstDash val="solid"/>
          </a:ln>
        </p:spPr>
      </p:sp>
      <p:sp>
        <p:nvSpPr>
          <p:cNvPr id="13" name="Text 10"/>
          <p:cNvSpPr/>
          <p:nvPr/>
        </p:nvSpPr>
        <p:spPr>
          <a:xfrm>
            <a:off x="393192"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Health</a:t>
            </a:r>
            <a:endParaRPr lang="en-US" sz="1200" dirty="0"/>
          </a:p>
        </p:txBody>
      </p:sp>
      <p:sp>
        <p:nvSpPr>
          <p:cNvPr id="14" name="Shape 11"/>
          <p:cNvSpPr/>
          <p:nvPr/>
        </p:nvSpPr>
        <p:spPr>
          <a:xfrm>
            <a:off x="1892808" y="2212848"/>
            <a:ext cx="1417320" cy="713232"/>
          </a:xfrm>
          <a:prstGeom prst="rect">
            <a:avLst/>
          </a:prstGeom>
          <a:solidFill>
            <a:srgbClr val="E8680C">
              <a:alpha val="30000"/>
            </a:srgbClr>
          </a:solidFill>
          <a:ln w="25400">
            <a:solidFill>
              <a:srgbClr val="E8680C"/>
            </a:solidFill>
            <a:prstDash val="solid"/>
          </a:ln>
        </p:spPr>
      </p:sp>
      <p:sp>
        <p:nvSpPr>
          <p:cNvPr id="15" name="Text 12"/>
          <p:cNvSpPr/>
          <p:nvPr/>
        </p:nvSpPr>
        <p:spPr>
          <a:xfrm>
            <a:off x="1965960"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Business</a:t>
            </a:r>
            <a:endParaRPr lang="en-US" sz="1200" dirty="0"/>
          </a:p>
        </p:txBody>
      </p:sp>
      <p:sp>
        <p:nvSpPr>
          <p:cNvPr id="16" name="Shape 13"/>
          <p:cNvSpPr/>
          <p:nvPr/>
        </p:nvSpPr>
        <p:spPr>
          <a:xfrm>
            <a:off x="3465576" y="2212848"/>
            <a:ext cx="1417320" cy="713232"/>
          </a:xfrm>
          <a:prstGeom prst="rect">
            <a:avLst/>
          </a:prstGeom>
          <a:solidFill>
            <a:srgbClr val="C0392B">
              <a:alpha val="30000"/>
            </a:srgbClr>
          </a:solidFill>
          <a:ln w="25400">
            <a:solidFill>
              <a:srgbClr val="C0392B"/>
            </a:solidFill>
            <a:prstDash val="solid"/>
          </a:ln>
        </p:spPr>
      </p:sp>
      <p:sp>
        <p:nvSpPr>
          <p:cNvPr id="17" name="Text 14"/>
          <p:cNvSpPr/>
          <p:nvPr/>
        </p:nvSpPr>
        <p:spPr>
          <a:xfrm>
            <a:off x="3538728"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Entertainment</a:t>
            </a:r>
            <a:endParaRPr lang="en-US" sz="1200" dirty="0"/>
          </a:p>
        </p:txBody>
      </p:sp>
      <p:sp>
        <p:nvSpPr>
          <p:cNvPr id="18" name="Shape 15"/>
          <p:cNvSpPr/>
          <p:nvPr/>
        </p:nvSpPr>
        <p:spPr>
          <a:xfrm>
            <a:off x="5120640" y="749808"/>
            <a:ext cx="3749040" cy="4023360"/>
          </a:xfrm>
          <a:prstGeom prst="rect">
            <a:avLst/>
          </a:prstGeom>
          <a:solidFill>
            <a:srgbClr val="132340"/>
          </a:solidFill>
          <a:ln w="19050">
            <a:solidFill>
              <a:srgbClr val="E8680C"/>
            </a:solidFill>
            <a:prstDash val="solid"/>
          </a:ln>
        </p:spPr>
      </p:sp>
      <p:sp>
        <p:nvSpPr>
          <p:cNvPr id="19" name="Text 16"/>
          <p:cNvSpPr/>
          <p:nvPr/>
        </p:nvSpPr>
        <p:spPr>
          <a:xfrm>
            <a:off x="5303520" y="868680"/>
            <a:ext cx="3383280" cy="384048"/>
          </a:xfrm>
          <a:prstGeom prst="rect">
            <a:avLst/>
          </a:prstGeom>
          <a:noFill/>
          <a:ln/>
        </p:spPr>
        <p:txBody>
          <a:bodyPr wrap="square" lIns="0" tIns="0" rIns="0" bIns="0" rtlCol="0" anchor="ctr"/>
          <a:lstStyle/>
          <a:p>
            <a:pPr indent="0" marL="0">
              <a:buNone/>
            </a:pPr>
            <a:r>
              <a:rPr lang="en-US" sz="1500" b="1" dirty="0">
                <a:solidFill>
                  <a:srgbClr val="E8680C"/>
                </a:solidFill>
                <a:latin typeface="Calibri" pitchFamily="34" charset="0"/>
                <a:ea typeface="Calibri" pitchFamily="34" charset="-122"/>
                <a:cs typeface="Calibri" pitchFamily="34" charset="-120"/>
              </a:rPr>
              <a:t>Real-World Impact</a:t>
            </a:r>
            <a:endParaRPr lang="en-US" sz="1500" dirty="0"/>
          </a:p>
        </p:txBody>
      </p:sp>
      <p:graphicFrame>
        <p:nvGraphicFramePr>
          <p:cNvPr id="20" name="Chart 0" descr=""/>
          <p:cNvGraphicFramePr/>
          <p:nvPr/>
        </p:nvGraphicFramePr>
        <p:xfrm>
          <a:off x="5212080" y="1325880"/>
          <a:ext cx="3566160" cy="2286000"/>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p:nvPr/>
        </p:nvSpPr>
        <p:spPr>
          <a:xfrm>
            <a:off x="5303520" y="3703320"/>
            <a:ext cx="3383280" cy="868680"/>
          </a:xfrm>
          <a:prstGeom prst="rect">
            <a:avLst/>
          </a:prstGeom>
          <a:noFill/>
          <a:ln/>
        </p:spPr>
        <p:txBody>
          <a:bodyPr wrap="square" lIns="0" tIns="0" rIns="0" bIns="0" rtlCol="0" anchor="ctr"/>
          <a:lstStyle/>
          <a:p>
            <a:pPr indent="0" marL="0">
              <a:buNone/>
            </a:pPr>
            <a:r>
              <a:rPr lang="en-US" sz="1100" i="1" dirty="0">
                <a:solidFill>
                  <a:srgbClr val="F5F0E8"/>
                </a:solidFill>
                <a:latin typeface="Calibri" pitchFamily="34" charset="0"/>
                <a:ea typeface="Calibri" pitchFamily="34" charset="-122"/>
                <a:cs typeface="Calibri" pitchFamily="34" charset="-120"/>
              </a:rPr>
              <a:t>India generates 100,000+ news articles daily — manual categorisation is impossible. This model enables automatic routing, recommendation, and archiving at scale.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RESULTS &amp; ACCURACY</a:t>
            </a:r>
            <a:endParaRPr lang="en-US" sz="13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400" b="1" dirty="0">
                <a:solidFill>
                  <a:srgbClr val="0A1628"/>
                </a:solidFill>
                <a:latin typeface="Calibri" pitchFamily="34" charset="0"/>
                <a:ea typeface="Calibri" pitchFamily="34" charset="-122"/>
                <a:cs typeface="Calibri" pitchFamily="34" charset="-120"/>
              </a:rPr>
              <a:t>Model Performance Summary</a:t>
            </a:r>
            <a:endParaRPr lang="en-US" sz="2400" dirty="0"/>
          </a:p>
        </p:txBody>
      </p:sp>
      <p:graphicFrame>
        <p:nvGraphicFramePr>
          <p:cNvPr id="5" name="Chart 0" descr=""/>
          <p:cNvGraphicFramePr/>
          <p:nvPr/>
        </p:nvGraphicFramePr>
        <p:xfrm>
          <a:off x="320040" y="141732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417320"/>
            <a:ext cx="2880360" cy="713232"/>
          </a:xfrm>
          <a:prstGeom prst="rect">
            <a:avLst/>
          </a:prstGeom>
          <a:solidFill>
            <a:srgbClr val="FFFFFF"/>
          </a:solidFill>
          <a:ln w="25400">
            <a:solidFill>
              <a:srgbClr val="C0392B"/>
            </a:solidFill>
            <a:prstDash val="solid"/>
          </a:ln>
          <a:effectLst>
            <a:outerShdw sx="100000" sy="100000" kx="0" ky="0" algn="bl" rotWithShape="0" blurRad="76200" dist="25400" dir="8100000">
              <a:srgbClr val="000000">
                <a:alpha val="10000"/>
              </a:srgbClr>
            </a:outerShdw>
          </a:effectLst>
        </p:spPr>
      </p:sp>
      <p:sp>
        <p:nvSpPr>
          <p:cNvPr id="7" name="Shape 4"/>
          <p:cNvSpPr/>
          <p:nvPr/>
        </p:nvSpPr>
        <p:spPr>
          <a:xfrm>
            <a:off x="5943600" y="1417320"/>
            <a:ext cx="64008" cy="713232"/>
          </a:xfrm>
          <a:prstGeom prst="rect">
            <a:avLst/>
          </a:prstGeom>
          <a:solidFill>
            <a:srgbClr val="C0392B"/>
          </a:solidFill>
          <a:ln w="12700">
            <a:solidFill>
              <a:srgbClr val="C0392B"/>
            </a:solidFill>
            <a:prstDash val="solid"/>
          </a:ln>
        </p:spPr>
      </p:sp>
      <p:sp>
        <p:nvSpPr>
          <p:cNvPr id="8" name="Text 5"/>
          <p:cNvSpPr/>
          <p:nvPr/>
        </p:nvSpPr>
        <p:spPr>
          <a:xfrm>
            <a:off x="6080760" y="1463040"/>
            <a:ext cx="640080" cy="621792"/>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97%</a:t>
            </a:r>
            <a:endParaRPr lang="en-US" sz="2600" dirty="0"/>
          </a:p>
        </p:txBody>
      </p:sp>
      <p:sp>
        <p:nvSpPr>
          <p:cNvPr id="9" name="Text 6"/>
          <p:cNvSpPr/>
          <p:nvPr/>
        </p:nvSpPr>
        <p:spPr>
          <a:xfrm>
            <a:off x="6812280" y="1463040"/>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Spam Classifier</a:t>
            </a:r>
            <a:endParaRPr lang="en-US" sz="1200" dirty="0"/>
          </a:p>
        </p:txBody>
      </p:sp>
      <p:sp>
        <p:nvSpPr>
          <p:cNvPr id="10" name="Text 7"/>
          <p:cNvSpPr/>
          <p:nvPr/>
        </p:nvSpPr>
        <p:spPr>
          <a:xfrm>
            <a:off x="6812280" y="1755648"/>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Multinomial Naive Bayes</a:t>
            </a:r>
            <a:endParaRPr lang="en-US" sz="1000" dirty="0"/>
          </a:p>
        </p:txBody>
      </p:sp>
      <p:sp>
        <p:nvSpPr>
          <p:cNvPr id="11" name="Shape 8"/>
          <p:cNvSpPr/>
          <p:nvPr/>
        </p:nvSpPr>
        <p:spPr>
          <a:xfrm>
            <a:off x="5943600" y="2258568"/>
            <a:ext cx="2880360" cy="713232"/>
          </a:xfrm>
          <a:prstGeom prst="rect">
            <a:avLst/>
          </a:prstGeom>
          <a:solidFill>
            <a:srgbClr val="FFFFFF"/>
          </a:solidFill>
          <a:ln w="25400">
            <a:solidFill>
              <a:srgbClr val="0E9AD1"/>
            </a:solidFill>
            <a:prstDash val="solid"/>
          </a:ln>
          <a:effectLst>
            <a:outerShdw sx="100000" sy="100000" kx="0" ky="0" algn="bl" rotWithShape="0" blurRad="76200" dist="25400" dir="8100000">
              <a:srgbClr val="000000">
                <a:alpha val="10000"/>
              </a:srgbClr>
            </a:outerShdw>
          </a:effectLst>
        </p:spPr>
      </p:sp>
      <p:sp>
        <p:nvSpPr>
          <p:cNvPr id="12" name="Shape 9"/>
          <p:cNvSpPr/>
          <p:nvPr/>
        </p:nvSpPr>
        <p:spPr>
          <a:xfrm>
            <a:off x="5943600" y="2258568"/>
            <a:ext cx="64008" cy="713232"/>
          </a:xfrm>
          <a:prstGeom prst="rect">
            <a:avLst/>
          </a:prstGeom>
          <a:solidFill>
            <a:srgbClr val="0E9AD1"/>
          </a:solidFill>
          <a:ln w="12700">
            <a:solidFill>
              <a:srgbClr val="0E9AD1"/>
            </a:solidFill>
            <a:prstDash val="solid"/>
          </a:ln>
        </p:spPr>
      </p:sp>
      <p:sp>
        <p:nvSpPr>
          <p:cNvPr id="13" name="Text 10"/>
          <p:cNvSpPr/>
          <p:nvPr/>
        </p:nvSpPr>
        <p:spPr>
          <a:xfrm>
            <a:off x="6080760" y="2304288"/>
            <a:ext cx="640080" cy="621792"/>
          </a:xfrm>
          <a:prstGeom prst="rect">
            <a:avLst/>
          </a:prstGeom>
          <a:noFill/>
          <a:ln/>
        </p:spPr>
        <p:txBody>
          <a:bodyPr wrap="square" lIns="0" tIns="0" rIns="0" bIns="0" rtlCol="0" anchor="ctr"/>
          <a:lstStyle/>
          <a:p>
            <a:pPr indent="0" marL="0">
              <a:buNone/>
            </a:pPr>
            <a:r>
              <a:rPr lang="en-US" sz="2600" b="1" dirty="0">
                <a:solidFill>
                  <a:srgbClr val="0E9AD1"/>
                </a:solidFill>
                <a:latin typeface="Calibri" pitchFamily="34" charset="0"/>
                <a:ea typeface="Calibri" pitchFamily="34" charset="-122"/>
                <a:cs typeface="Calibri" pitchFamily="34" charset="-120"/>
              </a:rPr>
              <a:t>95%</a:t>
            </a:r>
            <a:endParaRPr lang="en-US" sz="2600" dirty="0"/>
          </a:p>
        </p:txBody>
      </p:sp>
      <p:sp>
        <p:nvSpPr>
          <p:cNvPr id="14" name="Text 11"/>
          <p:cNvSpPr/>
          <p:nvPr/>
        </p:nvSpPr>
        <p:spPr>
          <a:xfrm>
            <a:off x="6812280" y="2304288"/>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Language Detection</a:t>
            </a:r>
            <a:endParaRPr lang="en-US" sz="1200" dirty="0"/>
          </a:p>
        </p:txBody>
      </p:sp>
      <p:sp>
        <p:nvSpPr>
          <p:cNvPr id="15" name="Text 12"/>
          <p:cNvSpPr/>
          <p:nvPr/>
        </p:nvSpPr>
        <p:spPr>
          <a:xfrm>
            <a:off x="6812280" y="2596896"/>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Logistic Regression</a:t>
            </a:r>
            <a:endParaRPr lang="en-US" sz="1000" dirty="0"/>
          </a:p>
        </p:txBody>
      </p:sp>
      <p:sp>
        <p:nvSpPr>
          <p:cNvPr id="16" name="Shape 13"/>
          <p:cNvSpPr/>
          <p:nvPr/>
        </p:nvSpPr>
        <p:spPr>
          <a:xfrm>
            <a:off x="5943600" y="3099816"/>
            <a:ext cx="2880360" cy="713232"/>
          </a:xfrm>
          <a:prstGeom prst="rect">
            <a:avLst/>
          </a:prstGeom>
          <a:solidFill>
            <a:srgbClr val="FFFFFF"/>
          </a:solidFill>
          <a:ln w="25400">
            <a:solidFill>
              <a:srgbClr val="0D7A6B"/>
            </a:solidFill>
            <a:prstDash val="solid"/>
          </a:ln>
          <a:effectLst>
            <a:outerShdw sx="100000" sy="100000" kx="0" ky="0" algn="bl" rotWithShape="0" blurRad="76200" dist="25400" dir="8100000">
              <a:srgbClr val="000000">
                <a:alpha val="10000"/>
              </a:srgbClr>
            </a:outerShdw>
          </a:effectLst>
        </p:spPr>
      </p:sp>
      <p:sp>
        <p:nvSpPr>
          <p:cNvPr id="17" name="Shape 14"/>
          <p:cNvSpPr/>
          <p:nvPr/>
        </p:nvSpPr>
        <p:spPr>
          <a:xfrm>
            <a:off x="5943600" y="3099816"/>
            <a:ext cx="64008" cy="713232"/>
          </a:xfrm>
          <a:prstGeom prst="rect">
            <a:avLst/>
          </a:prstGeom>
          <a:solidFill>
            <a:srgbClr val="0D7A6B"/>
          </a:solidFill>
          <a:ln w="12700">
            <a:solidFill>
              <a:srgbClr val="0D7A6B"/>
            </a:solidFill>
            <a:prstDash val="solid"/>
          </a:ln>
        </p:spPr>
      </p:sp>
      <p:sp>
        <p:nvSpPr>
          <p:cNvPr id="18" name="Text 15"/>
          <p:cNvSpPr/>
          <p:nvPr/>
        </p:nvSpPr>
        <p:spPr>
          <a:xfrm>
            <a:off x="6080760" y="3145536"/>
            <a:ext cx="640080" cy="621792"/>
          </a:xfrm>
          <a:prstGeom prst="rect">
            <a:avLst/>
          </a:prstGeom>
          <a:noFill/>
          <a:ln/>
        </p:spPr>
        <p:txBody>
          <a:bodyPr wrap="square" lIns="0" tIns="0" rIns="0" bIns="0" rtlCol="0" anchor="ctr"/>
          <a:lstStyle/>
          <a:p>
            <a:pPr indent="0" marL="0">
              <a:buNone/>
            </a:pPr>
            <a:r>
              <a:rPr lang="en-US" sz="2600" b="1" dirty="0">
                <a:solidFill>
                  <a:srgbClr val="0D7A6B"/>
                </a:solidFill>
                <a:latin typeface="Calibri" pitchFamily="34" charset="0"/>
                <a:ea typeface="Calibri" pitchFamily="34" charset="-122"/>
                <a:cs typeface="Calibri" pitchFamily="34" charset="-120"/>
              </a:rPr>
              <a:t>93%</a:t>
            </a:r>
            <a:endParaRPr lang="en-US" sz="2600" dirty="0"/>
          </a:p>
        </p:txBody>
      </p:sp>
      <p:sp>
        <p:nvSpPr>
          <p:cNvPr id="19" name="Text 16"/>
          <p:cNvSpPr/>
          <p:nvPr/>
        </p:nvSpPr>
        <p:spPr>
          <a:xfrm>
            <a:off x="6812280" y="3145536"/>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Food Sentiment</a:t>
            </a:r>
            <a:endParaRPr lang="en-US" sz="1200" dirty="0"/>
          </a:p>
        </p:txBody>
      </p:sp>
      <p:sp>
        <p:nvSpPr>
          <p:cNvPr id="20" name="Text 17"/>
          <p:cNvSpPr/>
          <p:nvPr/>
        </p:nvSpPr>
        <p:spPr>
          <a:xfrm>
            <a:off x="6812280" y="3438144"/>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Naive Bayes + TF-IDF</a:t>
            </a:r>
            <a:endParaRPr lang="en-US" sz="1000" dirty="0"/>
          </a:p>
        </p:txBody>
      </p:sp>
      <p:sp>
        <p:nvSpPr>
          <p:cNvPr id="21" name="Shape 18"/>
          <p:cNvSpPr/>
          <p:nvPr/>
        </p:nvSpPr>
        <p:spPr>
          <a:xfrm>
            <a:off x="5943600" y="3941064"/>
            <a:ext cx="2880360" cy="713232"/>
          </a:xfrm>
          <a:prstGeom prst="rect">
            <a:avLst/>
          </a:prstGeom>
          <a:solidFill>
            <a:srgbClr val="FFFFFF"/>
          </a:solidFill>
          <a:ln w="25400">
            <a:solidFill>
              <a:srgbClr val="E8680C"/>
            </a:solidFill>
            <a:prstDash val="solid"/>
          </a:ln>
          <a:effectLst>
            <a:outerShdw sx="100000" sy="100000" kx="0" ky="0" algn="bl" rotWithShape="0" blurRad="76200" dist="25400" dir="8100000">
              <a:srgbClr val="000000">
                <a:alpha val="10000"/>
              </a:srgbClr>
            </a:outerShdw>
          </a:effectLst>
        </p:spPr>
      </p:sp>
      <p:sp>
        <p:nvSpPr>
          <p:cNvPr id="22" name="Shape 19"/>
          <p:cNvSpPr/>
          <p:nvPr/>
        </p:nvSpPr>
        <p:spPr>
          <a:xfrm>
            <a:off x="5943600" y="3941064"/>
            <a:ext cx="64008" cy="713232"/>
          </a:xfrm>
          <a:prstGeom prst="rect">
            <a:avLst/>
          </a:prstGeom>
          <a:solidFill>
            <a:srgbClr val="E8680C"/>
          </a:solidFill>
          <a:ln w="12700">
            <a:solidFill>
              <a:srgbClr val="E8680C"/>
            </a:solidFill>
            <a:prstDash val="solid"/>
          </a:ln>
        </p:spPr>
      </p:sp>
      <p:sp>
        <p:nvSpPr>
          <p:cNvPr id="23" name="Text 20"/>
          <p:cNvSpPr/>
          <p:nvPr/>
        </p:nvSpPr>
        <p:spPr>
          <a:xfrm>
            <a:off x="6080760" y="3986784"/>
            <a:ext cx="640080" cy="621792"/>
          </a:xfrm>
          <a:prstGeom prst="rect">
            <a:avLst/>
          </a:prstGeom>
          <a:noFill/>
          <a:ln/>
        </p:spPr>
        <p:txBody>
          <a:bodyPr wrap="square" lIns="0" tIns="0" rIns="0" bIns="0" rtlCol="0" anchor="ctr"/>
          <a:lstStyle/>
          <a:p>
            <a:pPr indent="0" marL="0">
              <a:buNone/>
            </a:pPr>
            <a:r>
              <a:rPr lang="en-US" sz="2600" b="1" dirty="0">
                <a:solidFill>
                  <a:srgbClr val="E8680C"/>
                </a:solidFill>
                <a:latin typeface="Calibri" pitchFamily="34" charset="0"/>
                <a:ea typeface="Calibri" pitchFamily="34" charset="-122"/>
                <a:cs typeface="Calibri" pitchFamily="34" charset="-120"/>
              </a:rPr>
              <a:t>91%</a:t>
            </a:r>
            <a:endParaRPr lang="en-US" sz="2600" dirty="0"/>
          </a:p>
        </p:txBody>
      </p:sp>
      <p:sp>
        <p:nvSpPr>
          <p:cNvPr id="24" name="Text 21"/>
          <p:cNvSpPr/>
          <p:nvPr/>
        </p:nvSpPr>
        <p:spPr>
          <a:xfrm>
            <a:off x="6812280" y="3986784"/>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News Classification</a:t>
            </a:r>
            <a:endParaRPr lang="en-US" sz="1200" dirty="0"/>
          </a:p>
        </p:txBody>
      </p:sp>
      <p:sp>
        <p:nvSpPr>
          <p:cNvPr id="25" name="Text 22"/>
          <p:cNvSpPr/>
          <p:nvPr/>
        </p:nvSpPr>
        <p:spPr>
          <a:xfrm>
            <a:off x="6812280" y="4279392"/>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Logistic Regression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182880"/>
            <a:ext cx="8229600" cy="50292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LIVE DEMO — STREAMLIT APP</a:t>
            </a:r>
            <a:endParaRPr lang="en-US" sz="2400" dirty="0"/>
          </a:p>
        </p:txBody>
      </p:sp>
      <p:sp>
        <p:nvSpPr>
          <p:cNvPr id="3" name="Shape 1"/>
          <p:cNvSpPr/>
          <p:nvPr/>
        </p:nvSpPr>
        <p:spPr>
          <a:xfrm>
            <a:off x="365760" y="704088"/>
            <a:ext cx="2926080" cy="36576"/>
          </a:xfrm>
          <a:prstGeom prst="rect">
            <a:avLst/>
          </a:prstGeom>
          <a:solidFill>
            <a:srgbClr val="0E9AD1"/>
          </a:solidFill>
          <a:ln w="12700">
            <a:solidFill>
              <a:srgbClr val="0E9AD1"/>
            </a:solidFill>
            <a:prstDash val="solid"/>
          </a:ln>
        </p:spPr>
      </p:sp>
      <p:sp>
        <p:nvSpPr>
          <p:cNvPr id="4" name="Shape 2"/>
          <p:cNvSpPr/>
          <p:nvPr/>
        </p:nvSpPr>
        <p:spPr>
          <a:xfrm>
            <a:off x="320040" y="914400"/>
            <a:ext cx="5669280" cy="3931920"/>
          </a:xfrm>
          <a:prstGeom prst="rect">
            <a:avLst/>
          </a:prstGeom>
          <a:solidFill>
            <a:srgbClr val="132340"/>
          </a:solidFill>
          <a:ln w="25400">
            <a:solidFill>
              <a:srgbClr val="0E9AD1"/>
            </a:solidFill>
            <a:prstDash val="solid"/>
          </a:ln>
          <a:effectLst>
            <a:outerShdw sx="100000" sy="100000" kx="0" ky="0" algn="bl" rotWithShape="0" blurRad="152400" dist="50800" dir="8100000">
              <a:srgbClr val="000000">
                <a:alpha val="40000"/>
              </a:srgbClr>
            </a:outerShdw>
          </a:effectLst>
        </p:spPr>
      </p:sp>
      <p:sp>
        <p:nvSpPr>
          <p:cNvPr id="5" name="Shape 3"/>
          <p:cNvSpPr/>
          <p:nvPr/>
        </p:nvSpPr>
        <p:spPr>
          <a:xfrm>
            <a:off x="320040" y="914400"/>
            <a:ext cx="5669280" cy="347472"/>
          </a:xfrm>
          <a:prstGeom prst="rect">
            <a:avLst/>
          </a:prstGeom>
          <a:solidFill>
            <a:srgbClr val="1C2B42"/>
          </a:solidFill>
          <a:ln w="12700">
            <a:solidFill>
              <a:srgbClr val="1C2B42"/>
            </a:solidFill>
            <a:prstDash val="solid"/>
          </a:ln>
        </p:spPr>
      </p:sp>
      <p:sp>
        <p:nvSpPr>
          <p:cNvPr id="6" name="Shape 4"/>
          <p:cNvSpPr/>
          <p:nvPr/>
        </p:nvSpPr>
        <p:spPr>
          <a:xfrm>
            <a:off x="502920" y="987552"/>
            <a:ext cx="164592" cy="164592"/>
          </a:xfrm>
          <a:prstGeom prst="ellipse">
            <a:avLst/>
          </a:prstGeom>
          <a:solidFill>
            <a:srgbClr val="C0392B"/>
          </a:solidFill>
          <a:ln w="12700">
            <a:solidFill>
              <a:srgbClr val="C0392B"/>
            </a:solidFill>
            <a:prstDash val="solid"/>
          </a:ln>
        </p:spPr>
      </p:sp>
      <p:sp>
        <p:nvSpPr>
          <p:cNvPr id="7" name="Shape 5"/>
          <p:cNvSpPr/>
          <p:nvPr/>
        </p:nvSpPr>
        <p:spPr>
          <a:xfrm>
            <a:off x="749808" y="987552"/>
            <a:ext cx="164592" cy="164592"/>
          </a:xfrm>
          <a:prstGeom prst="ellipse">
            <a:avLst/>
          </a:prstGeom>
          <a:solidFill>
            <a:srgbClr val="F4C430"/>
          </a:solidFill>
          <a:ln w="12700">
            <a:solidFill>
              <a:srgbClr val="F4C430"/>
            </a:solidFill>
            <a:prstDash val="solid"/>
          </a:ln>
        </p:spPr>
      </p:sp>
      <p:sp>
        <p:nvSpPr>
          <p:cNvPr id="8" name="Shape 6"/>
          <p:cNvSpPr/>
          <p:nvPr/>
        </p:nvSpPr>
        <p:spPr>
          <a:xfrm>
            <a:off x="996696" y="987552"/>
            <a:ext cx="164592" cy="164592"/>
          </a:xfrm>
          <a:prstGeom prst="ellipse">
            <a:avLst/>
          </a:prstGeom>
          <a:solidFill>
            <a:srgbClr val="1A8C5C"/>
          </a:solidFill>
          <a:ln w="12700">
            <a:solidFill>
              <a:srgbClr val="1A8C5C"/>
            </a:solidFill>
            <a:prstDash val="solid"/>
          </a:ln>
        </p:spPr>
      </p:sp>
      <p:sp>
        <p:nvSpPr>
          <p:cNvPr id="9" name="Shape 7"/>
          <p:cNvSpPr/>
          <p:nvPr/>
        </p:nvSpPr>
        <p:spPr>
          <a:xfrm>
            <a:off x="1417320" y="1005840"/>
            <a:ext cx="2743200" cy="146304"/>
          </a:xfrm>
          <a:prstGeom prst="rect">
            <a:avLst/>
          </a:prstGeom>
          <a:solidFill>
            <a:srgbClr val="263550"/>
          </a:solidFill>
          <a:ln w="12700">
            <a:solidFill>
              <a:srgbClr val="263550"/>
            </a:solidFill>
            <a:prstDash val="solid"/>
          </a:ln>
        </p:spPr>
      </p:sp>
      <p:sp>
        <p:nvSpPr>
          <p:cNvPr id="10" name="Text 8"/>
          <p:cNvSpPr/>
          <p:nvPr/>
        </p:nvSpPr>
        <p:spPr>
          <a:xfrm>
            <a:off x="1417320" y="987552"/>
            <a:ext cx="2743200" cy="18288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localhost:8501</a:t>
            </a:r>
            <a:endParaRPr lang="en-US" sz="800" dirty="0"/>
          </a:p>
        </p:txBody>
      </p:sp>
      <p:sp>
        <p:nvSpPr>
          <p:cNvPr id="11" name="Text 9"/>
          <p:cNvSpPr/>
          <p:nvPr/>
        </p:nvSpPr>
        <p:spPr>
          <a:xfrm>
            <a:off x="457200" y="1371600"/>
            <a:ext cx="53949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Growth Matrix — NLP Suite</a:t>
            </a:r>
            <a:endParaRPr lang="en-US" sz="1600" dirty="0"/>
          </a:p>
        </p:txBody>
      </p:sp>
      <p:sp>
        <p:nvSpPr>
          <p:cNvPr id="12" name="Shape 10"/>
          <p:cNvSpPr/>
          <p:nvPr/>
        </p:nvSpPr>
        <p:spPr>
          <a:xfrm>
            <a:off x="457200" y="1828800"/>
            <a:ext cx="1234440" cy="310896"/>
          </a:xfrm>
          <a:prstGeom prst="rect">
            <a:avLst/>
          </a:prstGeom>
          <a:solidFill>
            <a:srgbClr val="1B4F8A"/>
          </a:solidFill>
          <a:ln w="12700">
            <a:solidFill>
              <a:srgbClr val="0E9AD1"/>
            </a:solidFill>
            <a:prstDash val="solid"/>
          </a:ln>
        </p:spPr>
      </p:sp>
      <p:sp>
        <p:nvSpPr>
          <p:cNvPr id="13" name="Text 11"/>
          <p:cNvSpPr/>
          <p:nvPr/>
        </p:nvSpPr>
        <p:spPr>
          <a:xfrm>
            <a:off x="457200"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Spam</a:t>
            </a:r>
            <a:endParaRPr lang="en-US" sz="1000" dirty="0"/>
          </a:p>
        </p:txBody>
      </p:sp>
      <p:sp>
        <p:nvSpPr>
          <p:cNvPr id="14" name="Shape 12"/>
          <p:cNvSpPr/>
          <p:nvPr/>
        </p:nvSpPr>
        <p:spPr>
          <a:xfrm>
            <a:off x="1810512" y="1828800"/>
            <a:ext cx="1234440" cy="310896"/>
          </a:xfrm>
          <a:prstGeom prst="rect">
            <a:avLst/>
          </a:prstGeom>
          <a:solidFill>
            <a:srgbClr val="1E2B40"/>
          </a:solidFill>
          <a:ln w="12700">
            <a:solidFill>
              <a:srgbClr val="263550"/>
            </a:solidFill>
            <a:prstDash val="solid"/>
          </a:ln>
        </p:spPr>
      </p:sp>
      <p:sp>
        <p:nvSpPr>
          <p:cNvPr id="15" name="Text 13"/>
          <p:cNvSpPr/>
          <p:nvPr/>
        </p:nvSpPr>
        <p:spPr>
          <a:xfrm>
            <a:off x="1810512"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Language</a:t>
            </a:r>
            <a:endParaRPr lang="en-US" sz="1000" dirty="0"/>
          </a:p>
        </p:txBody>
      </p:sp>
      <p:sp>
        <p:nvSpPr>
          <p:cNvPr id="16" name="Shape 14"/>
          <p:cNvSpPr/>
          <p:nvPr/>
        </p:nvSpPr>
        <p:spPr>
          <a:xfrm>
            <a:off x="3163824" y="1828800"/>
            <a:ext cx="1234440" cy="310896"/>
          </a:xfrm>
          <a:prstGeom prst="rect">
            <a:avLst/>
          </a:prstGeom>
          <a:solidFill>
            <a:srgbClr val="1E2B40"/>
          </a:solidFill>
          <a:ln w="12700">
            <a:solidFill>
              <a:srgbClr val="263550"/>
            </a:solidFill>
            <a:prstDash val="solid"/>
          </a:ln>
        </p:spPr>
      </p:sp>
      <p:sp>
        <p:nvSpPr>
          <p:cNvPr id="17" name="Text 15"/>
          <p:cNvSpPr/>
          <p:nvPr/>
        </p:nvSpPr>
        <p:spPr>
          <a:xfrm>
            <a:off x="3163824"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Food</a:t>
            </a:r>
            <a:endParaRPr lang="en-US" sz="1000" dirty="0"/>
          </a:p>
        </p:txBody>
      </p:sp>
      <p:sp>
        <p:nvSpPr>
          <p:cNvPr id="18" name="Shape 16"/>
          <p:cNvSpPr/>
          <p:nvPr/>
        </p:nvSpPr>
        <p:spPr>
          <a:xfrm>
            <a:off x="4517136" y="1828800"/>
            <a:ext cx="1234440" cy="310896"/>
          </a:xfrm>
          <a:prstGeom prst="rect">
            <a:avLst/>
          </a:prstGeom>
          <a:solidFill>
            <a:srgbClr val="1E2B40"/>
          </a:solidFill>
          <a:ln w="12700">
            <a:solidFill>
              <a:srgbClr val="263550"/>
            </a:solidFill>
            <a:prstDash val="solid"/>
          </a:ln>
        </p:spPr>
      </p:sp>
      <p:sp>
        <p:nvSpPr>
          <p:cNvPr id="19" name="Text 17"/>
          <p:cNvSpPr/>
          <p:nvPr/>
        </p:nvSpPr>
        <p:spPr>
          <a:xfrm>
            <a:off x="4517136"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News</a:t>
            </a:r>
            <a:endParaRPr lang="en-US" sz="1000" dirty="0"/>
          </a:p>
        </p:txBody>
      </p:sp>
      <p:sp>
        <p:nvSpPr>
          <p:cNvPr id="20" name="Shape 18"/>
          <p:cNvSpPr/>
          <p:nvPr/>
        </p:nvSpPr>
        <p:spPr>
          <a:xfrm>
            <a:off x="457200" y="2267712"/>
            <a:ext cx="4206240" cy="329184"/>
          </a:xfrm>
          <a:prstGeom prst="rect">
            <a:avLst/>
          </a:prstGeom>
          <a:solidFill>
            <a:srgbClr val="1E2B40"/>
          </a:solidFill>
          <a:ln w="12700">
            <a:solidFill>
              <a:srgbClr val="2E3D55"/>
            </a:solidFill>
            <a:prstDash val="solid"/>
          </a:ln>
        </p:spPr>
      </p:sp>
      <p:sp>
        <p:nvSpPr>
          <p:cNvPr id="21" name="Text 19"/>
          <p:cNvSpPr/>
          <p:nvPr/>
        </p:nvSpPr>
        <p:spPr>
          <a:xfrm>
            <a:off x="566928" y="2304288"/>
            <a:ext cx="4023360" cy="256032"/>
          </a:xfrm>
          <a:prstGeom prst="rect">
            <a:avLst/>
          </a:prstGeom>
          <a:noFill/>
          <a:ln/>
        </p:spPr>
        <p:txBody>
          <a:bodyPr wrap="square" lIns="0" tIns="0" rIns="0" bIns="0" rtlCol="0" anchor="ctr"/>
          <a:lstStyle/>
          <a:p>
            <a:pPr indent="0" marL="0">
              <a:buNone/>
            </a:pPr>
            <a:r>
              <a:rPr lang="en-US" sz="1100" i="1" dirty="0">
                <a:solidFill>
                  <a:srgbClr val="8A9BB0"/>
                </a:solidFill>
                <a:latin typeface="Calibri" pitchFamily="34" charset="0"/>
                <a:ea typeface="Calibri" pitchFamily="34" charset="-122"/>
                <a:cs typeface="Calibri" pitchFamily="34" charset="-120"/>
              </a:rPr>
              <a:t>Enter message here…</a:t>
            </a:r>
            <a:endParaRPr lang="en-US" sz="1100" dirty="0"/>
          </a:p>
        </p:txBody>
      </p:sp>
      <p:sp>
        <p:nvSpPr>
          <p:cNvPr id="22" name="Shape 20"/>
          <p:cNvSpPr/>
          <p:nvPr/>
        </p:nvSpPr>
        <p:spPr>
          <a:xfrm>
            <a:off x="4736592" y="2267712"/>
            <a:ext cx="1051560" cy="329184"/>
          </a:xfrm>
          <a:prstGeom prst="rect">
            <a:avLst/>
          </a:prstGeom>
          <a:solidFill>
            <a:srgbClr val="1B4F8A"/>
          </a:solidFill>
          <a:ln w="12700">
            <a:solidFill>
              <a:srgbClr val="1B4F8A"/>
            </a:solidFill>
            <a:prstDash val="solid"/>
          </a:ln>
        </p:spPr>
      </p:sp>
      <p:sp>
        <p:nvSpPr>
          <p:cNvPr id="23" name="Text 21"/>
          <p:cNvSpPr/>
          <p:nvPr/>
        </p:nvSpPr>
        <p:spPr>
          <a:xfrm>
            <a:off x="4736592" y="2286000"/>
            <a:ext cx="10515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Analyse</a:t>
            </a:r>
            <a:endParaRPr lang="en-US" sz="1100" dirty="0"/>
          </a:p>
        </p:txBody>
      </p:sp>
      <p:sp>
        <p:nvSpPr>
          <p:cNvPr id="24" name="Shape 22"/>
          <p:cNvSpPr/>
          <p:nvPr/>
        </p:nvSpPr>
        <p:spPr>
          <a:xfrm>
            <a:off x="457200" y="2743200"/>
            <a:ext cx="5330952" cy="502920"/>
          </a:xfrm>
          <a:prstGeom prst="rect">
            <a:avLst/>
          </a:prstGeom>
          <a:solidFill>
            <a:srgbClr val="0F2A1A"/>
          </a:solidFill>
          <a:ln w="19050">
            <a:solidFill>
              <a:srgbClr val="1A8C5C"/>
            </a:solidFill>
            <a:prstDash val="solid"/>
          </a:ln>
        </p:spPr>
      </p:sp>
      <p:sp>
        <p:nvSpPr>
          <p:cNvPr id="25" name="Text 23"/>
          <p:cNvSpPr/>
          <p:nvPr/>
        </p:nvSpPr>
        <p:spPr>
          <a:xfrm>
            <a:off x="685800" y="2816352"/>
            <a:ext cx="4846320" cy="365760"/>
          </a:xfrm>
          <a:prstGeom prst="rect">
            <a:avLst/>
          </a:prstGeom>
          <a:noFill/>
          <a:ln/>
        </p:spPr>
        <p:txBody>
          <a:bodyPr wrap="square" lIns="0" tIns="0" rIns="0" bIns="0" rtlCol="0" anchor="ctr"/>
          <a:lstStyle/>
          <a:p>
            <a:pPr algn="ctr" indent="0" marL="0">
              <a:buNone/>
            </a:pPr>
            <a:r>
              <a:rPr lang="en-US" sz="1400" b="1" dirty="0">
                <a:solidFill>
                  <a:srgbClr val="1A8C5C"/>
                </a:solidFill>
                <a:latin typeface="Calibri" pitchFamily="34" charset="0"/>
                <a:ea typeface="Calibri" pitchFamily="34" charset="-122"/>
                <a:cs typeface="Calibri" pitchFamily="34" charset="-120"/>
              </a:rPr>
              <a:t>✅  NOT SPAM — Looks Legitimate</a:t>
            </a:r>
            <a:endParaRPr lang="en-US" sz="1400" dirty="0"/>
          </a:p>
        </p:txBody>
      </p:sp>
      <p:sp>
        <p:nvSpPr>
          <p:cNvPr id="26" name="Shape 24"/>
          <p:cNvSpPr/>
          <p:nvPr/>
        </p:nvSpPr>
        <p:spPr>
          <a:xfrm>
            <a:off x="457200" y="3401568"/>
            <a:ext cx="5330952" cy="457200"/>
          </a:xfrm>
          <a:prstGeom prst="rect">
            <a:avLst/>
          </a:prstGeom>
          <a:solidFill>
            <a:srgbClr val="1E2B40"/>
          </a:solidFill>
          <a:ln w="12700">
            <a:solidFill>
              <a:srgbClr val="2E3D55"/>
            </a:solidFill>
            <a:prstDash val="dash"/>
          </a:ln>
        </p:spPr>
      </p:sp>
      <p:sp>
        <p:nvSpPr>
          <p:cNvPr id="27" name="Text 25"/>
          <p:cNvSpPr/>
          <p:nvPr/>
        </p:nvSpPr>
        <p:spPr>
          <a:xfrm>
            <a:off x="566928" y="3474720"/>
            <a:ext cx="5029200" cy="310896"/>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  Drag &amp; drop CSV for bulk prediction — Download results as CSV</a:t>
            </a:r>
            <a:endParaRPr lang="en-US" sz="1000" dirty="0"/>
          </a:p>
        </p:txBody>
      </p:sp>
      <p:sp>
        <p:nvSpPr>
          <p:cNvPr id="28" name="Text 26"/>
          <p:cNvSpPr/>
          <p:nvPr/>
        </p:nvSpPr>
        <p:spPr>
          <a:xfrm>
            <a:off x="6217920" y="914400"/>
            <a:ext cx="26517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App Features</a:t>
            </a:r>
            <a:endParaRPr lang="en-US" sz="1600" dirty="0"/>
          </a:p>
        </p:txBody>
      </p:sp>
      <p:pic>
        <p:nvPicPr>
          <p:cNvPr id="29" name="Image 0" descr="preencoded.png">    </p:cNvPr>
          <p:cNvPicPr>
            <a:picLocks noChangeAspect="1"/>
          </p:cNvPicPr>
          <p:nvPr/>
        </p:nvPicPr>
        <p:blipFill>
          <a:blip r:embed="rId1"/>
          <a:stretch>
            <a:fillRect/>
          </a:stretch>
        </p:blipFill>
        <p:spPr>
          <a:xfrm>
            <a:off x="6217920" y="1444752"/>
            <a:ext cx="201168" cy="201168"/>
          </a:xfrm>
          <a:prstGeom prst="rect">
            <a:avLst/>
          </a:prstGeom>
        </p:spPr>
      </p:pic>
      <p:sp>
        <p:nvSpPr>
          <p:cNvPr id="30" name="Text 27"/>
          <p:cNvSpPr/>
          <p:nvPr/>
        </p:nvSpPr>
        <p:spPr>
          <a:xfrm>
            <a:off x="6510528" y="1417320"/>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4 tabbed models</a:t>
            </a:r>
            <a:endParaRPr lang="en-US" sz="1200" dirty="0"/>
          </a:p>
        </p:txBody>
      </p:sp>
      <p:pic>
        <p:nvPicPr>
          <p:cNvPr id="31" name="Image 1" descr="preencoded.png">    </p:cNvPr>
          <p:cNvPicPr>
            <a:picLocks noChangeAspect="1"/>
          </p:cNvPicPr>
          <p:nvPr/>
        </p:nvPicPr>
        <p:blipFill>
          <a:blip r:embed="rId2"/>
          <a:stretch>
            <a:fillRect/>
          </a:stretch>
        </p:blipFill>
        <p:spPr>
          <a:xfrm>
            <a:off x="6217920" y="1883664"/>
            <a:ext cx="201168" cy="201168"/>
          </a:xfrm>
          <a:prstGeom prst="rect">
            <a:avLst/>
          </a:prstGeom>
        </p:spPr>
      </p:pic>
      <p:sp>
        <p:nvSpPr>
          <p:cNvPr id="32" name="Text 28"/>
          <p:cNvSpPr/>
          <p:nvPr/>
        </p:nvSpPr>
        <p:spPr>
          <a:xfrm>
            <a:off x="6510528" y="1856232"/>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Single text prediction</a:t>
            </a:r>
            <a:endParaRPr lang="en-US" sz="1200" dirty="0"/>
          </a:p>
        </p:txBody>
      </p:sp>
      <p:pic>
        <p:nvPicPr>
          <p:cNvPr id="33" name="Image 2" descr="preencoded.png">    </p:cNvPr>
          <p:cNvPicPr>
            <a:picLocks noChangeAspect="1"/>
          </p:cNvPicPr>
          <p:nvPr/>
        </p:nvPicPr>
        <p:blipFill>
          <a:blip r:embed="rId3"/>
          <a:stretch>
            <a:fillRect/>
          </a:stretch>
        </p:blipFill>
        <p:spPr>
          <a:xfrm>
            <a:off x="6217920" y="2322576"/>
            <a:ext cx="201168" cy="201168"/>
          </a:xfrm>
          <a:prstGeom prst="rect">
            <a:avLst/>
          </a:prstGeom>
        </p:spPr>
      </p:pic>
      <p:sp>
        <p:nvSpPr>
          <p:cNvPr id="34" name="Text 29"/>
          <p:cNvSpPr/>
          <p:nvPr/>
        </p:nvSpPr>
        <p:spPr>
          <a:xfrm>
            <a:off x="6510528" y="2295144"/>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Bulk CSV upload</a:t>
            </a:r>
            <a:endParaRPr lang="en-US" sz="1200" dirty="0"/>
          </a:p>
        </p:txBody>
      </p:sp>
      <p:pic>
        <p:nvPicPr>
          <p:cNvPr id="35" name="Image 3" descr="preencoded.png">    </p:cNvPr>
          <p:cNvPicPr>
            <a:picLocks noChangeAspect="1"/>
          </p:cNvPicPr>
          <p:nvPr/>
        </p:nvPicPr>
        <p:blipFill>
          <a:blip r:embed="rId4"/>
          <a:stretch>
            <a:fillRect/>
          </a:stretch>
        </p:blipFill>
        <p:spPr>
          <a:xfrm>
            <a:off x="6217920" y="2761488"/>
            <a:ext cx="201168" cy="201168"/>
          </a:xfrm>
          <a:prstGeom prst="rect">
            <a:avLst/>
          </a:prstGeom>
        </p:spPr>
      </p:pic>
      <p:sp>
        <p:nvSpPr>
          <p:cNvPr id="36" name="Text 30"/>
          <p:cNvSpPr/>
          <p:nvPr/>
        </p:nvSpPr>
        <p:spPr>
          <a:xfrm>
            <a:off x="6510528" y="2734056"/>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Summary statistics</a:t>
            </a:r>
            <a:endParaRPr lang="en-US" sz="1200" dirty="0"/>
          </a:p>
        </p:txBody>
      </p:sp>
      <p:pic>
        <p:nvPicPr>
          <p:cNvPr id="37" name="Image 4" descr="preencoded.png">    </p:cNvPr>
          <p:cNvPicPr>
            <a:picLocks noChangeAspect="1"/>
          </p:cNvPicPr>
          <p:nvPr/>
        </p:nvPicPr>
        <p:blipFill>
          <a:blip r:embed="rId5"/>
          <a:stretch>
            <a:fillRect/>
          </a:stretch>
        </p:blipFill>
        <p:spPr>
          <a:xfrm>
            <a:off x="6217920" y="3200400"/>
            <a:ext cx="201168" cy="201168"/>
          </a:xfrm>
          <a:prstGeom prst="rect">
            <a:avLst/>
          </a:prstGeom>
        </p:spPr>
      </p:pic>
      <p:sp>
        <p:nvSpPr>
          <p:cNvPr id="38" name="Text 31"/>
          <p:cNvSpPr/>
          <p:nvPr/>
        </p:nvSpPr>
        <p:spPr>
          <a:xfrm>
            <a:off x="6510528" y="3172968"/>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Downloadable results</a:t>
            </a:r>
            <a:endParaRPr lang="en-US" sz="1200" dirty="0"/>
          </a:p>
        </p:txBody>
      </p:sp>
      <p:pic>
        <p:nvPicPr>
          <p:cNvPr id="39" name="Image 5" descr="preencoded.png">    </p:cNvPr>
          <p:cNvPicPr>
            <a:picLocks noChangeAspect="1"/>
          </p:cNvPicPr>
          <p:nvPr/>
        </p:nvPicPr>
        <p:blipFill>
          <a:blip r:embed="rId6"/>
          <a:stretch>
            <a:fillRect/>
          </a:stretch>
        </p:blipFill>
        <p:spPr>
          <a:xfrm>
            <a:off x="6217920" y="3639312"/>
            <a:ext cx="201168" cy="201168"/>
          </a:xfrm>
          <a:prstGeom prst="rect">
            <a:avLst/>
          </a:prstGeom>
        </p:spPr>
      </p:pic>
      <p:sp>
        <p:nvSpPr>
          <p:cNvPr id="40" name="Text 32"/>
          <p:cNvSpPr/>
          <p:nvPr/>
        </p:nvSpPr>
        <p:spPr>
          <a:xfrm>
            <a:off x="6510528" y="3611880"/>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Input validation</a:t>
            </a:r>
            <a:endParaRPr lang="en-US" sz="1200" dirty="0"/>
          </a:p>
        </p:txBody>
      </p:sp>
      <p:pic>
        <p:nvPicPr>
          <p:cNvPr id="41" name="Image 6" descr="preencoded.png">    </p:cNvPr>
          <p:cNvPicPr>
            <a:picLocks noChangeAspect="1"/>
          </p:cNvPicPr>
          <p:nvPr/>
        </p:nvPicPr>
        <p:blipFill>
          <a:blip r:embed="rId7"/>
          <a:stretch>
            <a:fillRect/>
          </a:stretch>
        </p:blipFill>
        <p:spPr>
          <a:xfrm>
            <a:off x="6217920" y="4078224"/>
            <a:ext cx="201168" cy="201168"/>
          </a:xfrm>
          <a:prstGeom prst="rect">
            <a:avLst/>
          </a:prstGeom>
        </p:spPr>
      </p:pic>
      <p:sp>
        <p:nvSpPr>
          <p:cNvPr id="42" name="Text 33"/>
          <p:cNvSpPr/>
          <p:nvPr/>
        </p:nvSpPr>
        <p:spPr>
          <a:xfrm>
            <a:off x="6510528" y="4050792"/>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Cached model loading</a:t>
            </a:r>
            <a:endParaRPr lang="en-US" sz="1200" dirty="0"/>
          </a:p>
        </p:txBody>
      </p:sp>
      <p:pic>
        <p:nvPicPr>
          <p:cNvPr id="43" name="Image 7" descr="preencoded.png">    </p:cNvPr>
          <p:cNvPicPr>
            <a:picLocks noChangeAspect="1"/>
          </p:cNvPicPr>
          <p:nvPr/>
        </p:nvPicPr>
        <p:blipFill>
          <a:blip r:embed="rId8"/>
          <a:stretch>
            <a:fillRect/>
          </a:stretch>
        </p:blipFill>
        <p:spPr>
          <a:xfrm>
            <a:off x="6217920" y="4517136"/>
            <a:ext cx="201168" cy="201168"/>
          </a:xfrm>
          <a:prstGeom prst="rect">
            <a:avLst/>
          </a:prstGeom>
        </p:spPr>
      </p:pic>
      <p:sp>
        <p:nvSpPr>
          <p:cNvPr id="44" name="Text 34"/>
          <p:cNvSpPr/>
          <p:nvPr/>
        </p:nvSpPr>
        <p:spPr>
          <a:xfrm>
            <a:off x="6510528" y="4489704"/>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Colour-coded results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FUTURE SCOPE</a:t>
            </a:r>
            <a:endParaRPr lang="en-US" sz="13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400" b="1" dirty="0">
                <a:solidFill>
                  <a:srgbClr val="0A1628"/>
                </a:solidFill>
                <a:latin typeface="Calibri" pitchFamily="34" charset="0"/>
                <a:ea typeface="Calibri" pitchFamily="34" charset="-122"/>
                <a:cs typeface="Calibri" pitchFamily="34" charset="-120"/>
              </a:rPr>
              <a:t>What's Next for Growth Matrix?</a:t>
            </a:r>
            <a:endParaRPr lang="en-US" sz="2400" dirty="0"/>
          </a:p>
        </p:txBody>
      </p:sp>
      <p:sp>
        <p:nvSpPr>
          <p:cNvPr id="5" name="Shape 3"/>
          <p:cNvSpPr/>
          <p:nvPr/>
        </p:nvSpPr>
        <p:spPr>
          <a:xfrm>
            <a:off x="274320" y="1463040"/>
            <a:ext cx="2651760" cy="1508760"/>
          </a:xfrm>
          <a:prstGeom prst="rect">
            <a:avLst/>
          </a:prstGeom>
          <a:solidFill>
            <a:srgbClr val="FFFFFF"/>
          </a:solidFill>
          <a:ln w="25400">
            <a:solidFill>
              <a:srgbClr val="1B4F8A"/>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274320" y="1463040"/>
            <a:ext cx="2651760" cy="64008"/>
          </a:xfrm>
          <a:prstGeom prst="rect">
            <a:avLst/>
          </a:prstGeom>
          <a:solidFill>
            <a:srgbClr val="1B4F8A"/>
          </a:solidFill>
          <a:ln w="12700">
            <a:solidFill>
              <a:srgbClr val="1B4F8A"/>
            </a:solidFill>
            <a:prstDash val="solid"/>
          </a:ln>
        </p:spPr>
      </p:sp>
      <p:pic>
        <p:nvPicPr>
          <p:cNvPr id="7" name="Image 0" descr="preencoded.png">    </p:cNvPr>
          <p:cNvPicPr>
            <a:picLocks noChangeAspect="1"/>
          </p:cNvPicPr>
          <p:nvPr/>
        </p:nvPicPr>
        <p:blipFill>
          <a:blip r:embed="rId1"/>
          <a:stretch>
            <a:fillRect/>
          </a:stretch>
        </p:blipFill>
        <p:spPr>
          <a:xfrm>
            <a:off x="438912" y="1627632"/>
            <a:ext cx="347472" cy="347472"/>
          </a:xfrm>
          <a:prstGeom prst="rect">
            <a:avLst/>
          </a:prstGeom>
        </p:spPr>
      </p:pic>
      <p:sp>
        <p:nvSpPr>
          <p:cNvPr id="8" name="Text 5"/>
          <p:cNvSpPr/>
          <p:nvPr/>
        </p:nvSpPr>
        <p:spPr>
          <a:xfrm>
            <a:off x="914400"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REST API Deployment</a:t>
            </a:r>
            <a:endParaRPr lang="en-US" sz="1200" dirty="0"/>
          </a:p>
        </p:txBody>
      </p:sp>
      <p:sp>
        <p:nvSpPr>
          <p:cNvPr id="9" name="Text 6"/>
          <p:cNvSpPr/>
          <p:nvPr/>
        </p:nvSpPr>
        <p:spPr>
          <a:xfrm>
            <a:off x="411480"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Expose all 4 models as REST APIs for integration into mobile apps, websites, and enterprise systems.</a:t>
            </a:r>
            <a:endParaRPr lang="en-US" sz="1100" dirty="0"/>
          </a:p>
        </p:txBody>
      </p:sp>
      <p:sp>
        <p:nvSpPr>
          <p:cNvPr id="10" name="Shape 7"/>
          <p:cNvSpPr/>
          <p:nvPr/>
        </p:nvSpPr>
        <p:spPr>
          <a:xfrm>
            <a:off x="3218688" y="1463040"/>
            <a:ext cx="2651760" cy="1508760"/>
          </a:xfrm>
          <a:prstGeom prst="rect">
            <a:avLst/>
          </a:prstGeom>
          <a:solidFill>
            <a:srgbClr val="FFFFFF"/>
          </a:solidFill>
          <a:ln w="25400">
            <a:solidFill>
              <a:srgbClr val="0E9AD1"/>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3218688" y="1463040"/>
            <a:ext cx="2651760" cy="64008"/>
          </a:xfrm>
          <a:prstGeom prst="rect">
            <a:avLst/>
          </a:prstGeom>
          <a:solidFill>
            <a:srgbClr val="0E9AD1"/>
          </a:solidFill>
          <a:ln w="12700">
            <a:solidFill>
              <a:srgbClr val="0E9AD1"/>
            </a:solidFill>
            <a:prstDash val="solid"/>
          </a:ln>
        </p:spPr>
      </p:sp>
      <p:pic>
        <p:nvPicPr>
          <p:cNvPr id="12" name="Image 1" descr="preencoded.png">    </p:cNvPr>
          <p:cNvPicPr>
            <a:picLocks noChangeAspect="1"/>
          </p:cNvPicPr>
          <p:nvPr/>
        </p:nvPicPr>
        <p:blipFill>
          <a:blip r:embed="rId2"/>
          <a:stretch>
            <a:fillRect/>
          </a:stretch>
        </p:blipFill>
        <p:spPr>
          <a:xfrm>
            <a:off x="3383280" y="1627632"/>
            <a:ext cx="347472" cy="347472"/>
          </a:xfrm>
          <a:prstGeom prst="rect">
            <a:avLst/>
          </a:prstGeom>
        </p:spPr>
      </p:pic>
      <p:sp>
        <p:nvSpPr>
          <p:cNvPr id="13" name="Text 9"/>
          <p:cNvSpPr/>
          <p:nvPr/>
        </p:nvSpPr>
        <p:spPr>
          <a:xfrm>
            <a:off x="3858768"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More Indian Languages</a:t>
            </a:r>
            <a:endParaRPr lang="en-US" sz="1200" dirty="0"/>
          </a:p>
        </p:txBody>
      </p:sp>
      <p:sp>
        <p:nvSpPr>
          <p:cNvPr id="14" name="Text 10"/>
          <p:cNvSpPr/>
          <p:nvPr/>
        </p:nvSpPr>
        <p:spPr>
          <a:xfrm>
            <a:off x="3355848"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Expand language detection to cover all 22 official Indian languages including Odia, Sindhi, and Kashmiri.</a:t>
            </a:r>
            <a:endParaRPr lang="en-US" sz="1100" dirty="0"/>
          </a:p>
        </p:txBody>
      </p:sp>
      <p:sp>
        <p:nvSpPr>
          <p:cNvPr id="15" name="Shape 11"/>
          <p:cNvSpPr/>
          <p:nvPr/>
        </p:nvSpPr>
        <p:spPr>
          <a:xfrm>
            <a:off x="6163056" y="1463040"/>
            <a:ext cx="2651760" cy="1508760"/>
          </a:xfrm>
          <a:prstGeom prst="rect">
            <a:avLst/>
          </a:prstGeom>
          <a:solidFill>
            <a:srgbClr val="FFFFFF"/>
          </a:solidFill>
          <a:ln w="25400">
            <a:solidFill>
              <a:srgbClr val="E8680C"/>
            </a:solidFill>
            <a:prstDash val="solid"/>
          </a:ln>
          <a:effectLst>
            <a:outerShdw sx="100000" sy="100000" kx="0" ky="0" algn="bl" rotWithShape="0" blurRad="101600" dist="25400" dir="8100000">
              <a:srgbClr val="000000">
                <a:alpha val="10000"/>
              </a:srgbClr>
            </a:outerShdw>
          </a:effectLst>
        </p:spPr>
      </p:sp>
      <p:sp>
        <p:nvSpPr>
          <p:cNvPr id="16" name="Shape 12"/>
          <p:cNvSpPr/>
          <p:nvPr/>
        </p:nvSpPr>
        <p:spPr>
          <a:xfrm>
            <a:off x="6163056" y="1463040"/>
            <a:ext cx="2651760" cy="64008"/>
          </a:xfrm>
          <a:prstGeom prst="rect">
            <a:avLst/>
          </a:prstGeom>
          <a:solidFill>
            <a:srgbClr val="E8680C"/>
          </a:solidFill>
          <a:ln w="12700">
            <a:solidFill>
              <a:srgbClr val="E8680C"/>
            </a:solidFill>
            <a:prstDash val="solid"/>
          </a:ln>
        </p:spPr>
      </p:sp>
      <p:pic>
        <p:nvPicPr>
          <p:cNvPr id="17" name="Image 2" descr="preencoded.png">    </p:cNvPr>
          <p:cNvPicPr>
            <a:picLocks noChangeAspect="1"/>
          </p:cNvPicPr>
          <p:nvPr/>
        </p:nvPicPr>
        <p:blipFill>
          <a:blip r:embed="rId3"/>
          <a:stretch>
            <a:fillRect/>
          </a:stretch>
        </p:blipFill>
        <p:spPr>
          <a:xfrm>
            <a:off x="6327648" y="1627632"/>
            <a:ext cx="347472" cy="347472"/>
          </a:xfrm>
          <a:prstGeom prst="rect">
            <a:avLst/>
          </a:prstGeom>
        </p:spPr>
      </p:pic>
      <p:sp>
        <p:nvSpPr>
          <p:cNvPr id="18" name="Text 13"/>
          <p:cNvSpPr/>
          <p:nvPr/>
        </p:nvSpPr>
        <p:spPr>
          <a:xfrm>
            <a:off x="6803136"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Real-Time Dashboard</a:t>
            </a:r>
            <a:endParaRPr lang="en-US" sz="1200" dirty="0"/>
          </a:p>
        </p:txBody>
      </p:sp>
      <p:sp>
        <p:nvSpPr>
          <p:cNvPr id="19" name="Text 14"/>
          <p:cNvSpPr/>
          <p:nvPr/>
        </p:nvSpPr>
        <p:spPr>
          <a:xfrm>
            <a:off x="6300216"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Live analytics dashboard showing spam trends, sentiment shifts, and news category distribution over time.</a:t>
            </a:r>
            <a:endParaRPr lang="en-US" sz="1100" dirty="0"/>
          </a:p>
        </p:txBody>
      </p:sp>
      <p:sp>
        <p:nvSpPr>
          <p:cNvPr id="20" name="Shape 15"/>
          <p:cNvSpPr/>
          <p:nvPr/>
        </p:nvSpPr>
        <p:spPr>
          <a:xfrm>
            <a:off x="274320" y="3154680"/>
            <a:ext cx="2651760" cy="1508760"/>
          </a:xfrm>
          <a:prstGeom prst="rect">
            <a:avLst/>
          </a:prstGeom>
          <a:solidFill>
            <a:srgbClr val="FFFFFF"/>
          </a:solidFill>
          <a:ln w="25400">
            <a:solidFill>
              <a:srgbClr val="0D7A6B"/>
            </a:solidFill>
            <a:prstDash val="solid"/>
          </a:ln>
          <a:effectLst>
            <a:outerShdw sx="100000" sy="100000" kx="0" ky="0" algn="bl" rotWithShape="0" blurRad="101600" dist="25400" dir="8100000">
              <a:srgbClr val="000000">
                <a:alpha val="10000"/>
              </a:srgbClr>
            </a:outerShdw>
          </a:effectLst>
        </p:spPr>
      </p:sp>
      <p:sp>
        <p:nvSpPr>
          <p:cNvPr id="21" name="Shape 16"/>
          <p:cNvSpPr/>
          <p:nvPr/>
        </p:nvSpPr>
        <p:spPr>
          <a:xfrm>
            <a:off x="274320" y="3154680"/>
            <a:ext cx="2651760" cy="64008"/>
          </a:xfrm>
          <a:prstGeom prst="rect">
            <a:avLst/>
          </a:prstGeom>
          <a:solidFill>
            <a:srgbClr val="0D7A6B"/>
          </a:solidFill>
          <a:ln w="12700">
            <a:solidFill>
              <a:srgbClr val="0D7A6B"/>
            </a:solidFill>
            <a:prstDash val="solid"/>
          </a:ln>
        </p:spPr>
      </p:sp>
      <p:pic>
        <p:nvPicPr>
          <p:cNvPr id="22" name="Image 3" descr="preencoded.png">    </p:cNvPr>
          <p:cNvPicPr>
            <a:picLocks noChangeAspect="1"/>
          </p:cNvPicPr>
          <p:nvPr/>
        </p:nvPicPr>
        <p:blipFill>
          <a:blip r:embed="rId4"/>
          <a:stretch>
            <a:fillRect/>
          </a:stretch>
        </p:blipFill>
        <p:spPr>
          <a:xfrm>
            <a:off x="438912" y="3319272"/>
            <a:ext cx="347472" cy="347472"/>
          </a:xfrm>
          <a:prstGeom prst="rect">
            <a:avLst/>
          </a:prstGeom>
        </p:spPr>
      </p:pic>
      <p:sp>
        <p:nvSpPr>
          <p:cNvPr id="23" name="Text 17"/>
          <p:cNvSpPr/>
          <p:nvPr/>
        </p:nvSpPr>
        <p:spPr>
          <a:xfrm>
            <a:off x="914400"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Deep Learning Upgrade</a:t>
            </a:r>
            <a:endParaRPr lang="en-US" sz="1200" dirty="0"/>
          </a:p>
        </p:txBody>
      </p:sp>
      <p:sp>
        <p:nvSpPr>
          <p:cNvPr id="24" name="Text 18"/>
          <p:cNvSpPr/>
          <p:nvPr/>
        </p:nvSpPr>
        <p:spPr>
          <a:xfrm>
            <a:off x="411480"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Replace TF-IDF + classical ML with BERT/IndicBERT transformer models for higher accuracy on long text.</a:t>
            </a:r>
            <a:endParaRPr lang="en-US" sz="1100" dirty="0"/>
          </a:p>
        </p:txBody>
      </p:sp>
      <p:sp>
        <p:nvSpPr>
          <p:cNvPr id="25" name="Shape 19"/>
          <p:cNvSpPr/>
          <p:nvPr/>
        </p:nvSpPr>
        <p:spPr>
          <a:xfrm>
            <a:off x="3218688" y="3154680"/>
            <a:ext cx="2651760" cy="1508760"/>
          </a:xfrm>
          <a:prstGeom prst="rect">
            <a:avLst/>
          </a:prstGeom>
          <a:solidFill>
            <a:srgbClr val="FFFFFF"/>
          </a:solidFill>
          <a:ln w="25400">
            <a:solidFill>
              <a:srgbClr val="1A8C5C"/>
            </a:solidFill>
            <a:prstDash val="solid"/>
          </a:ln>
          <a:effectLst>
            <a:outerShdw sx="100000" sy="100000" kx="0" ky="0" algn="bl" rotWithShape="0" blurRad="101600" dist="25400" dir="8100000">
              <a:srgbClr val="000000">
                <a:alpha val="10000"/>
              </a:srgbClr>
            </a:outerShdw>
          </a:effectLst>
        </p:spPr>
      </p:sp>
      <p:sp>
        <p:nvSpPr>
          <p:cNvPr id="26" name="Shape 20"/>
          <p:cNvSpPr/>
          <p:nvPr/>
        </p:nvSpPr>
        <p:spPr>
          <a:xfrm>
            <a:off x="3218688" y="3154680"/>
            <a:ext cx="2651760" cy="64008"/>
          </a:xfrm>
          <a:prstGeom prst="rect">
            <a:avLst/>
          </a:prstGeom>
          <a:solidFill>
            <a:srgbClr val="1A8C5C"/>
          </a:solidFill>
          <a:ln w="12700">
            <a:solidFill>
              <a:srgbClr val="1A8C5C"/>
            </a:solidFill>
            <a:prstDash val="solid"/>
          </a:ln>
        </p:spPr>
      </p:sp>
      <p:pic>
        <p:nvPicPr>
          <p:cNvPr id="27" name="Image 4" descr="preencoded.png">    </p:cNvPr>
          <p:cNvPicPr>
            <a:picLocks noChangeAspect="1"/>
          </p:cNvPicPr>
          <p:nvPr/>
        </p:nvPicPr>
        <p:blipFill>
          <a:blip r:embed="rId5"/>
          <a:stretch>
            <a:fillRect/>
          </a:stretch>
        </p:blipFill>
        <p:spPr>
          <a:xfrm>
            <a:off x="3383280" y="3319272"/>
            <a:ext cx="347472" cy="347472"/>
          </a:xfrm>
          <a:prstGeom prst="rect">
            <a:avLst/>
          </a:prstGeom>
        </p:spPr>
      </p:pic>
      <p:sp>
        <p:nvSpPr>
          <p:cNvPr id="28" name="Text 21"/>
          <p:cNvSpPr/>
          <p:nvPr/>
        </p:nvSpPr>
        <p:spPr>
          <a:xfrm>
            <a:off x="3858768"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Multi-User Platform</a:t>
            </a:r>
            <a:endParaRPr lang="en-US" sz="1200" dirty="0"/>
          </a:p>
        </p:txBody>
      </p:sp>
      <p:sp>
        <p:nvSpPr>
          <p:cNvPr id="29" name="Text 22"/>
          <p:cNvSpPr/>
          <p:nvPr/>
        </p:nvSpPr>
        <p:spPr>
          <a:xfrm>
            <a:off x="3355848"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User authentication, history tracking, and personalised model recommendations for businesses.</a:t>
            </a:r>
            <a:endParaRPr lang="en-US" sz="1100" dirty="0"/>
          </a:p>
        </p:txBody>
      </p:sp>
      <p:sp>
        <p:nvSpPr>
          <p:cNvPr id="30" name="Shape 23"/>
          <p:cNvSpPr/>
          <p:nvPr/>
        </p:nvSpPr>
        <p:spPr>
          <a:xfrm>
            <a:off x="6163056" y="3154680"/>
            <a:ext cx="2651760" cy="1508760"/>
          </a:xfrm>
          <a:prstGeom prst="rect">
            <a:avLst/>
          </a:prstGeom>
          <a:solidFill>
            <a:srgbClr val="FFFFFF"/>
          </a:solidFill>
          <a:ln w="25400">
            <a:solidFill>
              <a:srgbClr val="C0392B"/>
            </a:solidFill>
            <a:prstDash val="solid"/>
          </a:ln>
          <a:effectLst>
            <a:outerShdw sx="100000" sy="100000" kx="0" ky="0" algn="bl" rotWithShape="0" blurRad="101600" dist="25400" dir="8100000">
              <a:srgbClr val="000000">
                <a:alpha val="10000"/>
              </a:srgbClr>
            </a:outerShdw>
          </a:effectLst>
        </p:spPr>
      </p:sp>
      <p:sp>
        <p:nvSpPr>
          <p:cNvPr id="31" name="Shape 24"/>
          <p:cNvSpPr/>
          <p:nvPr/>
        </p:nvSpPr>
        <p:spPr>
          <a:xfrm>
            <a:off x="6163056" y="3154680"/>
            <a:ext cx="2651760" cy="64008"/>
          </a:xfrm>
          <a:prstGeom prst="rect">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6"/>
          <a:stretch>
            <a:fillRect/>
          </a:stretch>
        </p:blipFill>
        <p:spPr>
          <a:xfrm>
            <a:off x="6327648" y="3319272"/>
            <a:ext cx="347472" cy="347472"/>
          </a:xfrm>
          <a:prstGeom prst="rect">
            <a:avLst/>
          </a:prstGeom>
        </p:spPr>
      </p:pic>
      <p:sp>
        <p:nvSpPr>
          <p:cNvPr id="33" name="Text 25"/>
          <p:cNvSpPr/>
          <p:nvPr/>
        </p:nvSpPr>
        <p:spPr>
          <a:xfrm>
            <a:off x="6803136"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Mobile App (Flutter)</a:t>
            </a:r>
            <a:endParaRPr lang="en-US" sz="1200" dirty="0"/>
          </a:p>
        </p:txBody>
      </p:sp>
      <p:sp>
        <p:nvSpPr>
          <p:cNvPr id="34" name="Text 26"/>
          <p:cNvSpPr/>
          <p:nvPr/>
        </p:nvSpPr>
        <p:spPr>
          <a:xfrm>
            <a:off x="6300216"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Cross-platform mobile application for on-the-go text analysis — scan messages, photos, or documents.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E9AD1"/>
          </a:solidFill>
          <a:ln w="12700">
            <a:solidFill>
              <a:srgbClr val="0E9AD1"/>
            </a:solidFill>
            <a:prstDash val="solid"/>
          </a:ln>
        </p:spPr>
      </p:sp>
      <p:sp>
        <p:nvSpPr>
          <p:cNvPr id="3" name="Shape 1"/>
          <p:cNvSpPr/>
          <p:nvPr/>
        </p:nvSpPr>
        <p:spPr>
          <a:xfrm>
            <a:off x="0" y="109728"/>
            <a:ext cx="9144000" cy="54864"/>
          </a:xfrm>
          <a:prstGeom prst="rect">
            <a:avLst/>
          </a:prstGeom>
          <a:solidFill>
            <a:srgbClr val="E8680C"/>
          </a:solidFill>
          <a:ln w="12700">
            <a:solidFill>
              <a:srgbClr val="E8680C"/>
            </a:solidFill>
            <a:prstDash val="solid"/>
          </a:ln>
        </p:spPr>
      </p:sp>
      <p:sp>
        <p:nvSpPr>
          <p:cNvPr id="4" name="Text 2"/>
          <p:cNvSpPr/>
          <p:nvPr/>
        </p:nvSpPr>
        <p:spPr>
          <a:xfrm>
            <a:off x="457200" y="457200"/>
            <a:ext cx="8229600" cy="457200"/>
          </a:xfrm>
          <a:prstGeom prst="rect">
            <a:avLst/>
          </a:prstGeom>
          <a:noFill/>
          <a:ln/>
        </p:spPr>
        <p:txBody>
          <a:bodyPr wrap="square" lIns="0" tIns="0" rIns="0" bIns="0" rtlCol="0" anchor="ctr"/>
          <a:lstStyle/>
          <a:p>
            <a:pPr algn="ctr" indent="0" marL="0">
              <a:buNone/>
            </a:pPr>
            <a:r>
              <a:rPr lang="en-US" sz="1300" b="1" spc="600" kern="0" dirty="0">
                <a:solidFill>
                  <a:srgbClr val="0E9AD1"/>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914400" y="1005840"/>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One Suite. Four Solutions.</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Built for a Digital India.</a:t>
            </a:r>
            <a:endParaRPr lang="en-US" sz="3200" dirty="0"/>
          </a:p>
        </p:txBody>
      </p:sp>
      <p:sp>
        <p:nvSpPr>
          <p:cNvPr id="6" name="Shape 4"/>
          <p:cNvSpPr/>
          <p:nvPr/>
        </p:nvSpPr>
        <p:spPr>
          <a:xfrm>
            <a:off x="411480" y="2606040"/>
            <a:ext cx="1920240" cy="502920"/>
          </a:xfrm>
          <a:prstGeom prst="rect">
            <a:avLst/>
          </a:prstGeom>
          <a:solidFill>
            <a:srgbClr val="C0392B">
              <a:alpha val="20000"/>
            </a:srgbClr>
          </a:solidFill>
          <a:ln w="25400">
            <a:solidFill>
              <a:srgbClr val="C0392B"/>
            </a:solidFill>
            <a:prstDash val="solid"/>
          </a:ln>
        </p:spPr>
      </p:sp>
      <p:sp>
        <p:nvSpPr>
          <p:cNvPr id="7" name="Text 5"/>
          <p:cNvSpPr/>
          <p:nvPr/>
        </p:nvSpPr>
        <p:spPr>
          <a:xfrm>
            <a:off x="41148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97% Spam Detection</a:t>
            </a:r>
            <a:endParaRPr lang="en-US" sz="1200" dirty="0"/>
          </a:p>
        </p:txBody>
      </p:sp>
      <p:sp>
        <p:nvSpPr>
          <p:cNvPr id="8" name="Shape 6"/>
          <p:cNvSpPr/>
          <p:nvPr/>
        </p:nvSpPr>
        <p:spPr>
          <a:xfrm>
            <a:off x="2514600" y="2606040"/>
            <a:ext cx="1920240" cy="502920"/>
          </a:xfrm>
          <a:prstGeom prst="rect">
            <a:avLst/>
          </a:prstGeom>
          <a:solidFill>
            <a:srgbClr val="0E9AD1">
              <a:alpha val="20000"/>
            </a:srgbClr>
          </a:solidFill>
          <a:ln w="25400">
            <a:solidFill>
              <a:srgbClr val="0E9AD1"/>
            </a:solidFill>
            <a:prstDash val="solid"/>
          </a:ln>
        </p:spPr>
      </p:sp>
      <p:sp>
        <p:nvSpPr>
          <p:cNvPr id="9" name="Text 7"/>
          <p:cNvSpPr/>
          <p:nvPr/>
        </p:nvSpPr>
        <p:spPr>
          <a:xfrm>
            <a:off x="251460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 Languages Supported</a:t>
            </a:r>
            <a:endParaRPr lang="en-US" sz="1200" dirty="0"/>
          </a:p>
        </p:txBody>
      </p:sp>
      <p:sp>
        <p:nvSpPr>
          <p:cNvPr id="10" name="Shape 8"/>
          <p:cNvSpPr/>
          <p:nvPr/>
        </p:nvSpPr>
        <p:spPr>
          <a:xfrm>
            <a:off x="4617720" y="2606040"/>
            <a:ext cx="1920240" cy="502920"/>
          </a:xfrm>
          <a:prstGeom prst="rect">
            <a:avLst/>
          </a:prstGeom>
          <a:solidFill>
            <a:srgbClr val="0D7A6B">
              <a:alpha val="20000"/>
            </a:srgbClr>
          </a:solidFill>
          <a:ln w="25400">
            <a:solidFill>
              <a:srgbClr val="0D7A6B"/>
            </a:solidFill>
            <a:prstDash val="solid"/>
          </a:ln>
        </p:spPr>
      </p:sp>
      <p:sp>
        <p:nvSpPr>
          <p:cNvPr id="11" name="Text 9"/>
          <p:cNvSpPr/>
          <p:nvPr/>
        </p:nvSpPr>
        <p:spPr>
          <a:xfrm>
            <a:off x="461772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93% Sentiment Accuracy</a:t>
            </a:r>
            <a:endParaRPr lang="en-US" sz="1200" dirty="0"/>
          </a:p>
        </p:txBody>
      </p:sp>
      <p:sp>
        <p:nvSpPr>
          <p:cNvPr id="12" name="Shape 10"/>
          <p:cNvSpPr/>
          <p:nvPr/>
        </p:nvSpPr>
        <p:spPr>
          <a:xfrm>
            <a:off x="6720840" y="2606040"/>
            <a:ext cx="1920240" cy="502920"/>
          </a:xfrm>
          <a:prstGeom prst="rect">
            <a:avLst/>
          </a:prstGeom>
          <a:solidFill>
            <a:srgbClr val="E8680C">
              <a:alpha val="20000"/>
            </a:srgbClr>
          </a:solidFill>
          <a:ln w="25400">
            <a:solidFill>
              <a:srgbClr val="E8680C"/>
            </a:solidFill>
            <a:prstDash val="solid"/>
          </a:ln>
        </p:spPr>
      </p:sp>
      <p:sp>
        <p:nvSpPr>
          <p:cNvPr id="13" name="Text 11"/>
          <p:cNvSpPr/>
          <p:nvPr/>
        </p:nvSpPr>
        <p:spPr>
          <a:xfrm>
            <a:off x="672084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News Categories</a:t>
            </a:r>
            <a:endParaRPr lang="en-US" sz="1200" dirty="0"/>
          </a:p>
        </p:txBody>
      </p:sp>
      <p:sp>
        <p:nvSpPr>
          <p:cNvPr id="14" name="Shape 12"/>
          <p:cNvSpPr/>
          <p:nvPr/>
        </p:nvSpPr>
        <p:spPr>
          <a:xfrm>
            <a:off x="457200" y="3337560"/>
            <a:ext cx="8229600" cy="1097280"/>
          </a:xfrm>
          <a:prstGeom prst="rect">
            <a:avLst/>
          </a:prstGeom>
          <a:solidFill>
            <a:srgbClr val="132340"/>
          </a:solidFill>
          <a:ln w="12700">
            <a:solidFill>
              <a:srgbClr val="1B4F8A"/>
            </a:solidFill>
            <a:prstDash val="solid"/>
          </a:ln>
        </p:spPr>
      </p:sp>
      <p:sp>
        <p:nvSpPr>
          <p:cNvPr id="15" name="Text 13"/>
          <p:cNvSpPr/>
          <p:nvPr/>
        </p:nvSpPr>
        <p:spPr>
          <a:xfrm>
            <a:off x="685800" y="3429000"/>
            <a:ext cx="7772400" cy="914400"/>
          </a:xfrm>
          <a:prstGeom prst="rect">
            <a:avLst/>
          </a:prstGeom>
          <a:noFill/>
          <a:ln/>
        </p:spPr>
        <p:txBody>
          <a:bodyPr wrap="square" lIns="0" tIns="0" rIns="0" bIns="0" rtlCol="0" anchor="ctr"/>
          <a:lstStyle/>
          <a:p>
            <a:pPr algn="ctr" indent="0" marL="0">
              <a:buNone/>
            </a:pPr>
            <a:r>
              <a:rPr lang="en-US" sz="1300" i="1" dirty="0">
                <a:solidFill>
                  <a:srgbClr val="F5F0E8"/>
                </a:solidFill>
                <a:latin typeface="Calibri" pitchFamily="34" charset="0"/>
                <a:ea typeface="Calibri" pitchFamily="34" charset="-122"/>
                <a:cs typeface="Calibri" pitchFamily="34" charset="-120"/>
              </a:rPr>
              <a:t>Growth Matrix demonstrates that NLP can solve real, everyday problems faced by India's rapidly growing digital population. From filtering spam to understanding multilingual content, this suite brings intelligent text analysis within reach of any business or individual.</a:t>
            </a:r>
            <a:endParaRPr lang="en-US" sz="1300" dirty="0"/>
          </a:p>
        </p:txBody>
      </p:sp>
      <p:sp>
        <p:nvSpPr>
          <p:cNvPr id="16" name="Text 14"/>
          <p:cNvSpPr/>
          <p:nvPr/>
        </p:nvSpPr>
        <p:spPr>
          <a:xfrm>
            <a:off x="457200" y="4617720"/>
            <a:ext cx="8229600" cy="347472"/>
          </a:xfrm>
          <a:prstGeom prst="rect">
            <a:avLst/>
          </a:prstGeom>
          <a:noFill/>
          <a:ln/>
        </p:spPr>
        <p:txBody>
          <a:bodyPr wrap="square" lIns="0" tIns="0" rIns="0" bIns="0"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B.Tech CSE Final Year Project  ·  Built with Python · Scikit-learn · Streamlit</a:t>
            </a:r>
            <a:endParaRPr lang="en-US" sz="1100" dirty="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D1B2A"/>
        </a:solidFill>
        <a:effectLst/>
      </p:bgPr>
    </p:bg>
    <p:spTree>
      <p:nvGrpSpPr>
        <p:cNvPr id="1" name=""/>
        <p:cNvGrpSpPr/>
        <p:nvPr/>
      </p:nvGrpSpPr>
      <p:grpSpPr>
        <a:xfrm>
          <a:off x="0" y="0"/>
          <a:ext cx="9144000" cy="5143500"/>
          <a:chOff x="0" y="0"/>
          <a:chExt cx="9144000" cy="5143500"/>
        </a:xfrm>
      </p:grpSpPr>
      <!-- Title: OUR TEAM -->
      <p:sp>
        <p:nvSpPr>
          <p:cNvPr id="2" name="Title"/>
          <p:cNvSpPr>
            <a:spLocks noGrp="1"/>
          </p:cNvSpPr>
          <p:nvPr/>
        </p:nvSpPr>
        <p:spPr>
          <a:xfrm>
            <a:off x="0" y="100000"/>
            <a:ext cx="9144000" cy="550000"/>
          </a:xfrm>
          <a:prstGeom prst="rect">
            <a:avLst/>
          </a:prstGeom>
          <a:noFill/>
        </p:spPr>
        <p:txBody>
          <a:bodyPr anchor="ctr"/>
          <a:lstStyle/>
          <a:p>
            <a:pPr algn="ctr"/>
            <a:r>
              <a:rPr lang="en-US" sz="3600" b="1" dirty="0">
                <a:solidFill>
                  <a:srgbClr val="FFFFFF"/>
                </a:solidFill>
                <a:latin typeface="Calibri"/>
              </a:rPr>
              <a:t>MEET OUR TEAM</a:t>
            </a:r>
          </a:p>
        </p:txBody>
      </p:sp>
      <!-- Subtitle line -->
      <p:sp>
        <p:nvSpPr>
          <p:cNvPr id="3" name="Subtitle"/>
          <p:cNvSpPr>
            <a:spLocks noGrp="1"/>
          </p:cNvSpPr>
          <p:nvPr/>
        </p:nvSpPr>
        <p:spPr>
          <a:xfrm>
            <a:off x="0" y="620000"/>
            <a:ext cx="9144000" cy="260000"/>
          </a:xfrm>
          <a:prstGeom prst="rect">
            <a:avLst/>
          </a:prstGeom>
          <a:noFill/>
        </p:spPr>
        <p:txBody>
          <a:bodyPr anchor="ctr"/>
          <a:lstStyle/>
          <a:p>
            <a:pPr algn="ctr"/>
            <a:r>
              <a:rPr lang="en-US" sz="1400" dirty="0">
                <a:solidFill>
                  <a:srgbClr val="4FC3F7"/>
                </a:solidFill>
                <a:latin typeface="Calibri"/>
              </a:rPr>
              <a:t>B.Tech CSE — Final Year Project | Growth Matrix</a:t>
            </a:r>
          </a:p>
        </p:txBody>
      </p:sp>
      <!-- ===== MEMBER 1: YAMAN KAITHWAS ===== -->
      <!-- Photo frame background -->
      <p:sp>
        <p:nvSpPr>
          <p:cNvPr id="10" name="Frame1"/>
          <p:cNvSpPr>
            <a:spLocks noGrp="1"/>
          </p:cNvSpPr>
          <p:nvPr/>
        </p:nvSpPr>
        <p:spPr>
          <a:xfrm>
            <a:off x="230000" y="950000"/>
            <a:ext cx="1700000" cy="1700000"/>
          </a:xfrm>
          <a:prstGeom prst="ellipse">
            <a:avLst/>
          </a:prstGeom>
          <a:solidFill>
            <a:srgbClr val="1565C0"/>
          </a:solidFill>
          <a:ln w="25400">
            <a:solidFill>
              <a:srgbClr val="4FC3F7"/>
            </a:solidFill>
          </a:ln>
        </p:spPr>
        <p:txBody>
          <a:bodyPr/>
          <a:lstStyle/>
          <a:p/>
        </p:txBody>
      </p:sp>
      <!-- Photo 1: Yaman -->
      <p:pic>
        <p:nvPicPr>
          <p:cNvPr id="11" name="YamanPhoto"/>
          <p:cNvPicPr>
            <a:picLocks noChangeAspect="1"/>
          </p:cNvPicPr>
          <p:nvPr/>
        </p:nvPicPr>
        <p:blipFill>
          <a:blip r:embed="rId3"/>
          <a:srcRect/>
          <a:stretch>
            <a:fillRect/>
          </a:stretch>
        </p:blipFill>
        <p:spPr>
          <a:xfrm>
            <a:off x="230000" y="950000"/>
            <a:ext cx="1700000" cy="1700000"/>
          </a:xfrm>
          <a:prstGeom prst="ellipse">
            <a:avLst/>
          </a:prstGeom>
        </p:spPr>
      </p:pic>
      <!-- Name 1 -->
      <p:sp>
        <p:nvSpPr>
          <p:cNvPr id="12" name="Name1"/>
          <p:cNvSpPr>
            <a:spLocks noGrp="1"/>
          </p:cNvSpPr>
          <p:nvPr/>
        </p:nvSpPr>
        <p:spPr>
          <a:xfrm>
            <a:off x="80000" y="2700000"/>
            <a:ext cx="2000000" cy="330000"/>
          </a:xfrm>
          <a:prstGeom prst="rect">
            <a:avLst/>
          </a:prstGeom>
          <a:noFill/>
        </p:spPr>
        <p:txBody>
          <a:bodyPr anchor="ctr"/>
          <a:lstStyle/>
          <a:p>
            <a:pPr algn="ctr"/>
            <a:r>
              <a:rPr lang="en-US" sz="1400" b="1" dirty="0">
                <a:solidFill>
                  <a:srgbClr val="FFFFFF"/>
                </a:solidFill>
                <a:latin typeface="Calibri"/>
              </a:rPr>
              <a:t>YAMAN KAITHWAS</a:t>
            </a:r>
          </a:p>
        </p:txBody>
      </p:sp>
      <!-- ID 1 -->
      <p:sp>
        <p:nvSpPr>
          <p:cNvPr id="13" name="ID1"/>
          <p:cNvSpPr>
            <a:spLocks noGrp="1"/>
          </p:cNvSpPr>
          <p:nvPr/>
        </p:nvSpPr>
        <p:spPr>
          <a:xfrm>
            <a:off x="80000" y="3020000"/>
            <a:ext cx="2000000" cy="270000"/>
          </a:xfrm>
          <a:prstGeom prst="rect">
            <a:avLst/>
          </a:prstGeom>
          <a:noFill/>
        </p:spPr>
        <p:txBody>
          <a:bodyPr anchor="ctr"/>
          <a:lstStyle/>
          <a:p>
            <a:pPr algn="ctr"/>
            <a:r>
              <a:rPr lang="en-US" sz="1100" dirty="0">
                <a:solidFill>
                  <a:srgbClr val="4FC3F7"/>
                </a:solidFill>
                <a:latin typeface="Calibri"/>
              </a:rPr>
              <a:t>22BTCS0294</a:t>
            </a:r>
          </a:p>
        </p:txBody>
      </p:sp>
      <!-- ===== MEMBER 2: RITU PATEL ===== -->
      <p:sp>
        <p:nvSpPr>
          <p:cNvPr id="20" name="Frame2"/>
          <p:cNvSpPr>
            <a:spLocks noGrp="1"/>
          </p:cNvSpPr>
          <p:nvPr/>
        </p:nvSpPr>
        <p:spPr>
          <a:xfrm>
            <a:off x="2430000" y="950000"/>
            <a:ext cx="1700000" cy="1700000"/>
          </a:xfrm>
          <a:prstGeom prst="ellipse">
            <a:avLst/>
          </a:prstGeom>
          <a:solidFill>
            <a:srgbClr val="1565C0"/>
          </a:solidFill>
          <a:ln w="25400">
            <a:solidFill>
              <a:srgbClr val="4FC3F7"/>
            </a:solidFill>
          </a:ln>
        </p:spPr>
        <p:txBody>
          <a:bodyPr/>
          <a:lstStyle/>
          <a:p/>
        </p:txBody>
      </p:sp>
      <p:pic>
        <p:nvPicPr>
          <p:cNvPr id="21" name="RituPhoto"/>
          <p:cNvPicPr>
            <a:picLocks noChangeAspect="1"/>
          </p:cNvPicPr>
          <p:nvPr/>
        </p:nvPicPr>
        <p:blipFill>
          <a:blip r:embed="rId4"/>
          <a:srcRect/>
          <a:stretch>
            <a:fillRect/>
          </a:stretch>
        </p:blipFill>
        <p:spPr>
          <a:xfrm>
            <a:off x="2430000" y="950000"/>
            <a:ext cx="1700000" cy="1700000"/>
          </a:xfrm>
          <a:prstGeom prst="ellipse">
            <a:avLst/>
          </a:prstGeom>
        </p:spPr>
      </p:pic>
      <p:sp>
        <p:nvSpPr>
          <p:cNvPr id="22" name="Name2"/>
          <p:cNvSpPr>
            <a:spLocks noGrp="1"/>
          </p:cNvSpPr>
          <p:nvPr/>
        </p:nvSpPr>
        <p:spPr>
          <a:xfrm>
            <a:off x="2280000" y="2700000"/>
            <a:ext cx="2000000" cy="330000"/>
          </a:xfrm>
          <a:prstGeom prst="rect">
            <a:avLst/>
          </a:prstGeom>
          <a:noFill/>
        </p:spPr>
        <p:txBody>
          <a:bodyPr anchor="ctr"/>
          <a:lstStyle/>
          <a:p>
            <a:pPr algn="ctr"/>
            <a:r>
              <a:rPr lang="en-US" sz="1400" b="1" dirty="0">
                <a:solidFill>
                  <a:srgbClr val="FFFFFF"/>
                </a:solidFill>
                <a:latin typeface="Calibri"/>
              </a:rPr>
              <a:t>RITU PATEL</a:t>
            </a:r>
          </a:p>
        </p:txBody>
      </p:sp>
      <p:sp>
        <p:nvSpPr>
          <p:cNvPr id="23" name="ID2"/>
          <p:cNvSpPr>
            <a:spLocks noGrp="1"/>
          </p:cNvSpPr>
          <p:nvPr/>
        </p:nvSpPr>
        <p:spPr>
          <a:xfrm>
            <a:off x="2280000" y="3020000"/>
            <a:ext cx="2000000" cy="270000"/>
          </a:xfrm>
          <a:prstGeom prst="rect">
            <a:avLst/>
          </a:prstGeom>
          <a:noFill/>
        </p:spPr>
        <p:txBody>
          <a:bodyPr anchor="ctr"/>
          <a:lstStyle/>
          <a:p>
            <a:pPr algn="ctr"/>
            <a:r>
              <a:rPr lang="en-US" sz="1100" dirty="0">
                <a:solidFill>
                  <a:srgbClr val="4FC3F7"/>
                </a:solidFill>
                <a:latin typeface="Calibri"/>
              </a:rPr>
              <a:t>22BTCS0153</a:t>
            </a:r>
          </a:p>
        </p:txBody>
      </p:sp>
      <!-- ===== MEMBER 3: SUNNY PAL ===== -->
      <p:sp>
        <p:nvSpPr>
          <p:cNvPr id="30" name="Frame3"/>
          <p:cNvSpPr>
            <a:spLocks noGrp="1"/>
          </p:cNvSpPr>
          <p:nvPr/>
        </p:nvSpPr>
        <p:spPr>
          <a:xfrm>
            <a:off x="4630000" y="950000"/>
            <a:ext cx="1700000" cy="1700000"/>
          </a:xfrm>
          <a:prstGeom prst="ellipse">
            <a:avLst/>
          </a:prstGeom>
          <a:solidFill>
            <a:srgbClr val="1565C0"/>
          </a:solidFill>
          <a:ln w="25400">
            <a:solidFill>
              <a:srgbClr val="4FC3F7"/>
            </a:solidFill>
          </a:ln>
        </p:spPr>
        <p:txBody>
          <a:bodyPr/>
          <a:lstStyle/>
          <a:p/>
        </p:txBody>
      </p:sp>
      <p:pic>
        <p:nvPicPr>
          <p:cNvPr id="31" name="SunnyPhoto"/>
          <p:cNvPicPr>
            <a:picLocks noChangeAspect="1"/>
          </p:cNvPicPr>
          <p:nvPr/>
        </p:nvPicPr>
        <p:blipFill>
          <a:blip r:embed="rId5"/>
          <a:srcRect/>
          <a:stretch>
            <a:fillRect/>
          </a:stretch>
        </p:blipFill>
        <p:spPr>
          <a:xfrm>
            <a:off x="4630000" y="950000"/>
            <a:ext cx="1700000" cy="1700000"/>
          </a:xfrm>
          <a:prstGeom prst="ellipse">
            <a:avLst/>
          </a:prstGeom>
        </p:spPr>
      </p:pic>
      <p:sp>
        <p:nvSpPr>
          <p:cNvPr id="32" name="Name3"/>
          <p:cNvSpPr>
            <a:spLocks noGrp="1"/>
          </p:cNvSpPr>
          <p:nvPr/>
        </p:nvSpPr>
        <p:spPr>
          <a:xfrm>
            <a:off x="4480000" y="2700000"/>
            <a:ext cx="2000000" cy="330000"/>
          </a:xfrm>
          <a:prstGeom prst="rect">
            <a:avLst/>
          </a:prstGeom>
          <a:noFill/>
        </p:spPr>
        <p:txBody>
          <a:bodyPr anchor="ctr"/>
          <a:lstStyle/>
          <a:p>
            <a:pPr algn="ctr"/>
            <a:r>
              <a:rPr lang="en-US" sz="1400" b="1" dirty="0">
                <a:solidFill>
                  <a:srgbClr val="FFFFFF"/>
                </a:solidFill>
                <a:latin typeface="Calibri"/>
              </a:rPr>
              <a:t>SUNNY PAL</a:t>
            </a:r>
          </a:p>
        </p:txBody>
      </p:sp>
      <p:sp>
        <p:nvSpPr>
          <p:cNvPr id="33" name="ID3"/>
          <p:cNvSpPr>
            <a:spLocks noGrp="1"/>
          </p:cNvSpPr>
          <p:nvPr/>
        </p:nvSpPr>
        <p:spPr>
          <a:xfrm>
            <a:off x="4480000" y="3020000"/>
            <a:ext cx="2000000" cy="270000"/>
          </a:xfrm>
          <a:prstGeom prst="rect">
            <a:avLst/>
          </a:prstGeom>
          <a:noFill/>
        </p:spPr>
        <p:txBody>
          <a:bodyPr anchor="ctr"/>
          <a:lstStyle/>
          <a:p>
            <a:pPr algn="ctr"/>
            <a:r>
              <a:rPr lang="en-US" sz="1100" dirty="0">
                <a:solidFill>
                  <a:srgbClr val="4FC3F7"/>
                </a:solidFill>
                <a:latin typeface="Calibri"/>
              </a:rPr>
              <a:t>22BTCS0321</a:t>
            </a:r>
          </a:p>
        </p:txBody>
      </p:sp>
      <!-- ===== MEMBER 4: VARUN NATH SINGH ===== -->
      <p:sp>
        <p:nvSpPr>
          <p:cNvPr id="40" name="Frame4"/>
          <p:cNvSpPr>
            <a:spLocks noGrp="1"/>
          </p:cNvSpPr>
          <p:nvPr/>
        </p:nvSpPr>
        <p:spPr>
          <a:xfrm>
            <a:off x="6830000" y="950000"/>
            <a:ext cx="1700000" cy="1700000"/>
          </a:xfrm>
          <a:prstGeom prst="ellipse">
            <a:avLst/>
          </a:prstGeom>
          <a:solidFill>
            <a:srgbClr val="1565C0"/>
          </a:solidFill>
          <a:ln w="25400">
            <a:solidFill>
              <a:srgbClr val="4FC3F7"/>
            </a:solidFill>
          </a:ln>
        </p:spPr>
        <p:txBody>
          <a:bodyPr/>
          <a:lstStyle/>
          <a:p/>
        </p:txBody>
      </p:sp>
      <p:pic>
        <p:nvPicPr>
          <p:cNvPr id="41" name="VarunPhoto"/>
          <p:cNvPicPr>
            <a:picLocks noChangeAspect="1"/>
          </p:cNvPicPr>
          <p:nvPr/>
        </p:nvPicPr>
        <p:blipFill>
          <a:blip r:embed="rId6"/>
          <a:srcRect/>
          <a:stretch>
            <a:fillRect/>
          </a:stretch>
        </p:blipFill>
        <p:spPr>
          <a:xfrm>
            <a:off x="6830000" y="950000"/>
            <a:ext cx="1700000" cy="1700000"/>
          </a:xfrm>
          <a:prstGeom prst="ellipse">
            <a:avLst/>
          </a:prstGeom>
        </p:spPr>
      </p:pic>
      <p:sp>
        <p:nvSpPr>
          <p:cNvPr id="42" name="Name4"/>
          <p:cNvSpPr>
            <a:spLocks noGrp="1"/>
          </p:cNvSpPr>
          <p:nvPr/>
        </p:nvSpPr>
        <p:spPr>
          <a:xfrm>
            <a:off x="6680000" y="2700000"/>
            <a:ext cx="2000000" cy="330000"/>
          </a:xfrm>
          <a:prstGeom prst="rect">
            <a:avLst/>
          </a:prstGeom>
          <a:noFill/>
        </p:spPr>
        <p:txBody>
          <a:bodyPr anchor="ctr"/>
          <a:lstStyle/>
          <a:p>
            <a:pPr algn="ctr"/>
            <a:r>
              <a:rPr lang="en-US" sz="1400" b="1" dirty="0">
                <a:solidFill>
                  <a:srgbClr val="FFFFFF"/>
                </a:solidFill>
                <a:latin typeface="Calibri"/>
              </a:rPr>
              <a:t>VARUN NATH SINGH</a:t>
            </a:r>
          </a:p>
        </p:txBody>
      </p:sp>
      <p:sp>
        <p:nvSpPr>
          <p:cNvPr id="43" name="ID4"/>
          <p:cNvSpPr>
            <a:spLocks noGrp="1"/>
          </p:cNvSpPr>
          <p:nvPr/>
        </p:nvSpPr>
        <p:spPr>
          <a:xfrm>
            <a:off x="6680000" y="3020000"/>
            <a:ext cx="2000000" cy="270000"/>
          </a:xfrm>
          <a:prstGeom prst="rect">
            <a:avLst/>
          </a:prstGeom>
          <a:noFill/>
        </p:spPr>
        <p:txBody>
          <a:bodyPr anchor="ctr"/>
          <a:lstStyle/>
          <a:p>
            <a:pPr algn="ctr"/>
            <a:r>
              <a:rPr lang="en-US" sz="1100" dirty="0">
                <a:solidFill>
                  <a:srgbClr val="4FC3F7"/>
                </a:solidFill>
                <a:latin typeface="Calibri"/>
              </a:rPr>
              <a:t>22BTCS0211</a:t>
            </a:r>
          </a:p>
        </p:txBody>
      </p:sp>
      <!-- Bottom accent bar -->
      <p:sp>
        <p:nvSpPr>
          <p:cNvPr id="50" name="AccentBar"/>
          <p:cNvSpPr>
            <a:spLocks noGrp="1"/>
          </p:cNvSpPr>
          <p:nvPr/>
        </p:nvSpPr>
        <p:spPr>
          <a:xfrm>
            <a:off x="0" y="4900000"/>
            <a:ext cx="9144000" cy="80000"/>
          </a:xfrm>
          <a:prstGeom prst="rect">
            <a:avLst/>
          </a:prstGeom>
          <a:solidFill>
            <a:srgbClr val="4FC3F7"/>
          </a:solidFill>
        </p:spPr>
        <p:txBody>
          <a:bodyPr/>
          <a:lstStyle/>
          <a:p/>
        </p:txBody>
      </p:sp>
      <!-- Bottom text -->
      <p:sp>
        <p:nvSpPr>
          <p:cNvPr id="51" name="BottomText"/>
          <p:cNvSpPr>
            <a:spLocks noGrp="1"/>
          </p:cNvSpPr>
          <p:nvPr/>
        </p:nvSpPr>
        <p:spPr>
          <a:xfrm>
            <a:off x="0" y="4960000"/>
            <a:ext cx="9144000" cy="183500"/>
          </a:xfrm>
          <a:prstGeom prst="rect">
            <a:avLst/>
          </a:prstGeom>
          <a:noFill/>
        </p:spPr>
        <p:txBody>
          <a:bodyPr anchor="ctr"/>
          <a:lstStyle/>
          <a:p>
            <a:pPr algn="ctr"/>
            <a:r>
              <a:rPr lang="en-US" sz="1000" dirty="0">
                <a:solidFill>
                  <a:srgbClr val="90CAF9"/>
                </a:solidFill>
                <a:latin typeface="Calibri"/>
              </a:rPr>
              <a:t>Department of Computer Science &amp; Engineering  |  Growth Matrix NLP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LENSE eXpert — NLP Suite</dc:title>
  <dc:subject>PptxGenJS Presentation</dc:subject>
  <dc:creator>B.Tech CSE Final Year</dc:creator>
  <cp:lastModifiedBy>B.Tech CSE Final Year</cp:lastModifiedBy>
  <cp:revision>1</cp:revision>
  <dcterms:created xsi:type="dcterms:W3CDTF">2026-03-11T04:32:09Z</dcterms:created>
  <dcterms:modified xsi:type="dcterms:W3CDTF">2026-03-11T04:32:09Z</dcterms:modified>
</cp:coreProperties>
</file>